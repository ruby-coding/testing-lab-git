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Lst>
  <p:notesMasterIdLst>
    <p:notesMasterId r:id="rId12"/>
  </p:notesMasterIdLst>
  <p:handoutMasterIdLst>
    <p:handoutMasterId r:id="rId13"/>
  </p:handoutMasterIdLst>
  <p:sldIdLst>
    <p:sldId id="314" r:id="rId5"/>
    <p:sldId id="317" r:id="rId6"/>
    <p:sldId id="316" r:id="rId7"/>
    <p:sldId id="327" r:id="rId8"/>
    <p:sldId id="323" r:id="rId9"/>
    <p:sldId id="325" r:id="rId10"/>
    <p:sldId id="326" r:id="rId1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85">
          <p15:clr>
            <a:srgbClr val="A4A3A4"/>
          </p15:clr>
        </p15:guide>
        <p15:guide id="2" pos="39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C6BFBB"/>
    <a:srgbClr val="969696"/>
    <a:srgbClr val="9E9A95"/>
    <a:srgbClr val="382E25"/>
    <a:srgbClr val="C17945"/>
    <a:srgbClr val="31526A"/>
    <a:srgbClr val="690304"/>
    <a:srgbClr val="252626"/>
    <a:srgbClr val="A6A6A6"/>
    <a:srgbClr val="EDEBE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84" autoAdjust="0"/>
    <p:restoredTop sz="68552" autoAdjust="0"/>
  </p:normalViewPr>
  <p:slideViewPr>
    <p:cSldViewPr snapToGrid="0" snapToObjects="1">
      <p:cViewPr varScale="1">
        <p:scale>
          <a:sx n="114" d="100"/>
          <a:sy n="114" d="100"/>
        </p:scale>
        <p:origin x="-56" y="144"/>
      </p:cViewPr>
      <p:guideLst>
        <p:guide orient="horz" pos="3185"/>
        <p:guide pos="3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9" d="100"/>
        <a:sy n="149" d="100"/>
      </p:scale>
      <p:origin x="0" y="0"/>
    </p:cViewPr>
  </p:sorterViewPr>
  <p:notesViewPr>
    <p:cSldViewPr snapToGrid="0" snapToObjects="1">
      <p:cViewPr varScale="1">
        <p:scale>
          <a:sx n="132" d="100"/>
          <a:sy n="132" d="100"/>
        </p:scale>
        <p:origin x="-5920"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87859BD-4604-2843-976C-9F2DEE3C79DB}" type="datetimeFigureOut">
              <a:rPr lang="en-US" smtClean="0"/>
              <a:t>12/10/25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EB64456-6A4C-DF40-836A-7ED7CB7228F1}" type="slidenum">
              <a:rPr lang="en-US" smtClean="0"/>
              <a:t>‹#›</a:t>
            </a:fld>
            <a:endParaRPr lang="en-US"/>
          </a:p>
        </p:txBody>
      </p:sp>
    </p:spTree>
    <p:extLst>
      <p:ext uri="{BB962C8B-B14F-4D97-AF65-F5344CB8AC3E}">
        <p14:creationId xmlns:p14="http://schemas.microsoft.com/office/powerpoint/2010/main" val="2632783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108F45-8DB7-E449-85E4-EC04F96DF3AA}" type="datetimeFigureOut">
              <a:rPr lang="en-US" smtClean="0"/>
              <a:t>12/10/25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06D261-4ACC-5E49-97C5-9D8FD2D9A3AF}" type="slidenum">
              <a:rPr lang="en-US" smtClean="0"/>
              <a:t>‹#›</a:t>
            </a:fld>
            <a:endParaRPr lang="en-US"/>
          </a:p>
        </p:txBody>
      </p:sp>
    </p:spTree>
    <p:extLst>
      <p:ext uri="{BB962C8B-B14F-4D97-AF65-F5344CB8AC3E}">
        <p14:creationId xmlns:p14="http://schemas.microsoft.com/office/powerpoint/2010/main" val="194734559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they be described by the same model</a:t>
            </a:r>
          </a:p>
        </p:txBody>
      </p:sp>
      <p:sp>
        <p:nvSpPr>
          <p:cNvPr id="4" name="Slide Number Placeholder 3"/>
          <p:cNvSpPr>
            <a:spLocks noGrp="1"/>
          </p:cNvSpPr>
          <p:nvPr>
            <p:ph type="sldNum" sz="quarter" idx="5"/>
          </p:nvPr>
        </p:nvSpPr>
        <p:spPr/>
        <p:txBody>
          <a:bodyPr/>
          <a:lstStyle/>
          <a:p>
            <a:fld id="{9706D261-4ACC-5E49-97C5-9D8FD2D9A3AF}" type="slidenum">
              <a:rPr lang="en-US" smtClean="0"/>
              <a:t>2</a:t>
            </a:fld>
            <a:endParaRPr lang="en-US"/>
          </a:p>
        </p:txBody>
      </p:sp>
    </p:spTree>
    <p:extLst>
      <p:ext uri="{BB962C8B-B14F-4D97-AF65-F5344CB8AC3E}">
        <p14:creationId xmlns:p14="http://schemas.microsoft.com/office/powerpoint/2010/main" val="2613383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aim of ABC is to infer the parameters that best explain the observed household outbreak data. ABC allows us to approximate posterior distribution. In other words, is to learn which transmission parameters produce simulated outbreaks that best match the observed data, so that we can see whether different influenza outbreaks share the same disease-spread dynamics.</a:t>
            </a:r>
          </a:p>
        </p:txBody>
      </p:sp>
      <p:sp>
        <p:nvSpPr>
          <p:cNvPr id="4" name="Slide Number Placeholder 3"/>
          <p:cNvSpPr>
            <a:spLocks noGrp="1"/>
          </p:cNvSpPr>
          <p:nvPr>
            <p:ph type="sldNum" sz="quarter" idx="5"/>
          </p:nvPr>
        </p:nvSpPr>
        <p:spPr/>
        <p:txBody>
          <a:bodyPr/>
          <a:lstStyle/>
          <a:p>
            <a:fld id="{9706D261-4ACC-5E49-97C5-9D8FD2D9A3AF}" type="slidenum">
              <a:rPr lang="en-US" smtClean="0"/>
              <a:t>3</a:t>
            </a:fld>
            <a:endParaRPr lang="en-US"/>
          </a:p>
        </p:txBody>
      </p:sp>
    </p:spTree>
    <p:extLst>
      <p:ext uri="{BB962C8B-B14F-4D97-AF65-F5344CB8AC3E}">
        <p14:creationId xmlns:p14="http://schemas.microsoft.com/office/powerpoint/2010/main" val="3660069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likelihood for the </a:t>
            </a:r>
            <a:r>
              <a:rPr lang="en-US" dirty="0" err="1"/>
              <a:t>Longini</a:t>
            </a:r>
            <a:r>
              <a:rPr lang="en-US" dirty="0"/>
              <a:t>–Koopman model requires summing over all possible unobserved infection pathways within households, which grows </a:t>
            </a:r>
            <a:r>
              <a:rPr lang="en-US" dirty="0" err="1"/>
              <a:t>combinatorially</a:t>
            </a:r>
            <a:r>
              <a:rPr lang="en-US" dirty="0"/>
              <a:t> and has no closed-form solution—so traditional Bayesian inference is impossible, and ABC is required</a:t>
            </a:r>
          </a:p>
        </p:txBody>
      </p:sp>
      <p:sp>
        <p:nvSpPr>
          <p:cNvPr id="4" name="Slide Number Placeholder 3"/>
          <p:cNvSpPr>
            <a:spLocks noGrp="1"/>
          </p:cNvSpPr>
          <p:nvPr>
            <p:ph type="sldNum" sz="quarter" idx="5"/>
          </p:nvPr>
        </p:nvSpPr>
        <p:spPr/>
        <p:txBody>
          <a:bodyPr/>
          <a:lstStyle/>
          <a:p>
            <a:fld id="{9706D261-4ACC-5E49-97C5-9D8FD2D9A3AF}" type="slidenum">
              <a:rPr lang="en-US" smtClean="0"/>
              <a:t>4</a:t>
            </a:fld>
            <a:endParaRPr lang="en-US"/>
          </a:p>
        </p:txBody>
      </p:sp>
    </p:spTree>
    <p:extLst>
      <p:ext uri="{BB962C8B-B14F-4D97-AF65-F5344CB8AC3E}">
        <p14:creationId xmlns:p14="http://schemas.microsoft.com/office/powerpoint/2010/main" val="899779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a:t>
            </a:r>
            <a:r>
              <a:rPr lang="en-US" b="1" dirty="0" err="1"/>
              <a:t>wjs_matrix</a:t>
            </a:r>
            <a:r>
              <a:rPr lang="en-US" b="1" dirty="0"/>
              <a:t>(</a:t>
            </a:r>
            <a:r>
              <a:rPr lang="en-US" b="1" dirty="0" err="1"/>
              <a:t>qh</a:t>
            </a:r>
            <a:r>
              <a:rPr lang="en-US" b="1" dirty="0"/>
              <a:t>, qc)</a:t>
            </a:r>
          </a:p>
          <a:p>
            <a:pPr>
              <a:buFont typeface="Arial" panose="020B0604020202020204" pitchFamily="34" charset="0"/>
              <a:buChar char="•"/>
            </a:pPr>
            <a:r>
              <a:rPr lang="en-US" dirty="0"/>
              <a:t>Builds household infection probability matrix</a:t>
            </a:r>
          </a:p>
          <a:p>
            <a:pPr>
              <a:buFont typeface="Arial" panose="020B0604020202020204" pitchFamily="34" charset="0"/>
              <a:buChar char="•"/>
            </a:pPr>
            <a:r>
              <a:rPr lang="en-US" dirty="0"/>
              <a:t>Ensures each column sums to 1</a:t>
            </a:r>
          </a:p>
          <a:p>
            <a:r>
              <a:rPr lang="en-US" b="1" dirty="0"/>
              <a:t>2. </a:t>
            </a:r>
            <a:r>
              <a:rPr lang="en-US" b="1" dirty="0" err="1"/>
              <a:t>simulate_counts</a:t>
            </a:r>
            <a:r>
              <a:rPr lang="en-US" b="1" dirty="0"/>
              <a:t>(</a:t>
            </a:r>
            <a:r>
              <a:rPr lang="en-US" b="1" dirty="0" err="1"/>
              <a:t>qh</a:t>
            </a:r>
            <a:r>
              <a:rPr lang="en-US" b="1" dirty="0"/>
              <a:t>, qc, </a:t>
            </a:r>
            <a:r>
              <a:rPr lang="en-US" b="1" dirty="0" err="1"/>
              <a:t>obs</a:t>
            </a:r>
            <a:r>
              <a:rPr lang="en-US" b="1" dirty="0"/>
              <a:t>)</a:t>
            </a:r>
          </a:p>
          <a:p>
            <a:pPr>
              <a:buFont typeface="Arial" panose="020B0604020202020204" pitchFamily="34" charset="0"/>
              <a:buChar char="•"/>
            </a:pPr>
            <a:r>
              <a:rPr lang="en-US" dirty="0"/>
              <a:t>Generates infection count tables</a:t>
            </a:r>
          </a:p>
          <a:p>
            <a:pPr>
              <a:buFont typeface="Arial" panose="020B0604020202020204" pitchFamily="34" charset="0"/>
              <a:buChar char="•"/>
            </a:pPr>
            <a:r>
              <a:rPr lang="en-US" dirty="0"/>
              <a:t>Uses multinomial sampling</a:t>
            </a:r>
          </a:p>
          <a:p>
            <a:r>
              <a:rPr lang="en-US" b="1" dirty="0"/>
              <a:t>3. </a:t>
            </a:r>
            <a:r>
              <a:rPr lang="en-US" b="1" dirty="0" err="1"/>
              <a:t>distance_two_outbreaks</a:t>
            </a:r>
            <a:r>
              <a:rPr lang="en-US" b="1" dirty="0"/>
              <a:t>(theta)</a:t>
            </a:r>
          </a:p>
          <a:p>
            <a:pPr>
              <a:buFont typeface="Arial" panose="020B0604020202020204" pitchFamily="34" charset="0"/>
              <a:buChar char="•"/>
            </a:pPr>
            <a:r>
              <a:rPr lang="en-US" dirty="0"/>
              <a:t>Computes </a:t>
            </a:r>
            <a:r>
              <a:rPr lang="en-US" dirty="0" err="1"/>
              <a:t>Frobenius</a:t>
            </a:r>
            <a:r>
              <a:rPr lang="en-US" dirty="0"/>
              <a:t> distance between simulated and observed tables</a:t>
            </a:r>
          </a:p>
          <a:p>
            <a:r>
              <a:rPr lang="en-US" b="1" dirty="0"/>
              <a:t>4. abc_rejection_4param()</a:t>
            </a:r>
          </a:p>
          <a:p>
            <a:pPr>
              <a:buFont typeface="Arial" panose="020B0604020202020204" pitchFamily="34" charset="0"/>
              <a:buChar char="•"/>
            </a:pPr>
            <a:r>
              <a:rPr lang="en-US" dirty="0"/>
              <a:t>Draws parameters</a:t>
            </a:r>
          </a:p>
          <a:p>
            <a:pPr>
              <a:buFont typeface="Arial" panose="020B0604020202020204" pitchFamily="34" charset="0"/>
              <a:buChar char="•"/>
            </a:pPr>
            <a:r>
              <a:rPr lang="en-US" dirty="0"/>
              <a:t>Simulates outbreaks</a:t>
            </a:r>
          </a:p>
          <a:p>
            <a:pPr>
              <a:buFont typeface="Arial" panose="020B0604020202020204" pitchFamily="34" charset="0"/>
              <a:buChar char="•"/>
            </a:pPr>
            <a:r>
              <a:rPr lang="en-US" dirty="0"/>
              <a:t>Calculates distances</a:t>
            </a:r>
          </a:p>
          <a:p>
            <a:pPr>
              <a:buFont typeface="Arial" panose="020B0604020202020204" pitchFamily="34" charset="0"/>
              <a:buChar char="•"/>
            </a:pPr>
            <a:r>
              <a:rPr lang="en-US" dirty="0"/>
              <a:t>Returns accepted samples</a:t>
            </a:r>
          </a:p>
          <a:p>
            <a:r>
              <a:rPr lang="en-US" b="1" dirty="0"/>
              <a:t>Design Decisions</a:t>
            </a:r>
          </a:p>
          <a:p>
            <a:pPr>
              <a:buFont typeface="Arial" panose="020B0604020202020204" pitchFamily="34" charset="0"/>
              <a:buChar char="•"/>
            </a:pPr>
            <a:r>
              <a:rPr lang="en-US" dirty="0"/>
              <a:t>Modular functions for easy debugging</a:t>
            </a:r>
          </a:p>
          <a:p>
            <a:pPr>
              <a:buFont typeface="Arial" panose="020B0604020202020204" pitchFamily="34" charset="0"/>
              <a:buChar char="•"/>
            </a:pPr>
            <a:r>
              <a:rPr lang="en-US" dirty="0"/>
              <a:t>Vectorized distance computation for speed</a:t>
            </a:r>
          </a:p>
          <a:p>
            <a:pPr>
              <a:buFont typeface="Arial" panose="020B0604020202020204" pitchFamily="34" charset="0"/>
              <a:buChar char="•"/>
            </a:pPr>
            <a:r>
              <a:rPr lang="en-US" dirty="0"/>
              <a:t>Returns both parameters and epsilon threshold</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5</a:t>
            </a:fld>
            <a:endParaRPr lang="en-US"/>
          </a:p>
        </p:txBody>
      </p:sp>
    </p:spTree>
    <p:extLst>
      <p:ext uri="{BB962C8B-B14F-4D97-AF65-F5344CB8AC3E}">
        <p14:creationId xmlns:p14="http://schemas.microsoft.com/office/powerpoint/2010/main" val="1504749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90442-3DD2-3D8A-4F17-4D4F6E6E3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681F2E-81B0-0E1A-1132-49944A295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E213BA-41F2-1181-FFE6-552BD1B4E9DD}"/>
              </a:ext>
            </a:extLst>
          </p:cNvPr>
          <p:cNvSpPr>
            <a:spLocks noGrp="1"/>
          </p:cNvSpPr>
          <p:nvPr>
            <p:ph type="body" idx="1"/>
          </p:nvPr>
        </p:nvSpPr>
        <p:spPr/>
        <p:txBody>
          <a:bodyPr/>
          <a:lstStyle/>
          <a:p>
            <a:r>
              <a:rPr lang="en-US" b="1" dirty="0"/>
              <a:t>1. Column sums of W normalized to 1</a:t>
            </a:r>
            <a:endParaRPr lang="en-US" dirty="0"/>
          </a:p>
          <a:p>
            <a:r>
              <a:rPr lang="en-US" dirty="0"/>
              <a:t>“First, in </a:t>
            </a:r>
            <a:r>
              <a:rPr lang="en-US" i="1" dirty="0" err="1"/>
              <a:t>wjs_matrix</a:t>
            </a:r>
            <a:r>
              <a:rPr lang="en-US" i="1" dirty="0"/>
              <a:t>()</a:t>
            </a:r>
            <a:r>
              <a:rPr lang="en-US" dirty="0"/>
              <a:t>, every column is automatically normalized so the probabilities sum to 1.</a:t>
            </a:r>
            <a:br>
              <a:rPr lang="en-US" dirty="0"/>
            </a:br>
            <a:r>
              <a:rPr lang="en-US" dirty="0"/>
              <a:t>This guarantees that the infection probability distribution for each household size is mathematically valid.”</a:t>
            </a:r>
          </a:p>
          <a:p>
            <a:r>
              <a:rPr lang="en-US" b="1" dirty="0"/>
              <a:t>2. Simulator preserves household totals</a:t>
            </a:r>
            <a:endParaRPr lang="en-US" dirty="0"/>
          </a:p>
          <a:p>
            <a:r>
              <a:rPr lang="en-US" dirty="0"/>
              <a:t>“Next, our simulator uses a multinomial draw, which always returns counts summing to the number of households of that size.</a:t>
            </a:r>
            <a:br>
              <a:rPr lang="en-US" dirty="0"/>
            </a:br>
            <a:r>
              <a:rPr lang="en-US" dirty="0"/>
              <a:t>This ensures the simulation never creates or loses households.”</a:t>
            </a:r>
          </a:p>
          <a:p>
            <a:r>
              <a:rPr lang="en-US" b="1" dirty="0"/>
              <a:t>3. Distance = 0 when simulated matches observed</a:t>
            </a:r>
            <a:endParaRPr lang="en-US" dirty="0"/>
          </a:p>
          <a:p>
            <a:r>
              <a:rPr lang="en-US" dirty="0"/>
              <a:t>“Our distance function computes the </a:t>
            </a:r>
            <a:r>
              <a:rPr lang="en-US" dirty="0" err="1"/>
              <a:t>Frobenius</a:t>
            </a:r>
            <a:r>
              <a:rPr lang="en-US" dirty="0"/>
              <a:t> norm between two outbreak tables.</a:t>
            </a:r>
            <a:br>
              <a:rPr lang="en-US" dirty="0"/>
            </a:br>
            <a:r>
              <a:rPr lang="en-US" dirty="0"/>
              <a:t>If we compare a simulated table to itself, the distance is exactly zero, which confirms the metric is implemented correctly.”</a:t>
            </a:r>
          </a:p>
          <a:p>
            <a:r>
              <a:rPr lang="en-US" b="1" dirty="0"/>
              <a:t>4. Lower epsilon → tighter posterior cluster</a:t>
            </a:r>
            <a:endParaRPr lang="en-US" dirty="0"/>
          </a:p>
          <a:p>
            <a:r>
              <a:rPr lang="en-US" dirty="0"/>
              <a:t>“Finally, in the ABC rejection step, decreasing epsilon makes the acceptance threshold stricter.</a:t>
            </a:r>
            <a:br>
              <a:rPr lang="en-US" dirty="0"/>
            </a:br>
            <a:r>
              <a:rPr lang="en-US" dirty="0"/>
              <a:t>As expected, this produces much tighter posterior clusters, indicating the algorithm is behaving correctly.”</a:t>
            </a:r>
          </a:p>
          <a:p>
            <a:endParaRPr lang="en-US" dirty="0"/>
          </a:p>
        </p:txBody>
      </p:sp>
      <p:sp>
        <p:nvSpPr>
          <p:cNvPr id="4" name="Slide Number Placeholder 3">
            <a:extLst>
              <a:ext uri="{FF2B5EF4-FFF2-40B4-BE49-F238E27FC236}">
                <a16:creationId xmlns:a16="http://schemas.microsoft.com/office/drawing/2014/main" id="{4A23FD10-384E-BFB5-07D7-79795E393F93}"/>
              </a:ext>
            </a:extLst>
          </p:cNvPr>
          <p:cNvSpPr>
            <a:spLocks noGrp="1"/>
          </p:cNvSpPr>
          <p:nvPr>
            <p:ph type="sldNum" sz="quarter" idx="5"/>
          </p:nvPr>
        </p:nvSpPr>
        <p:spPr/>
        <p:txBody>
          <a:bodyPr/>
          <a:lstStyle/>
          <a:p>
            <a:fld id="{9706D261-4ACC-5E49-97C5-9D8FD2D9A3AF}" type="slidenum">
              <a:rPr lang="en-US" smtClean="0"/>
              <a:t>6</a:t>
            </a:fld>
            <a:endParaRPr lang="en-US"/>
          </a:p>
        </p:txBody>
      </p:sp>
    </p:spTree>
    <p:extLst>
      <p:ext uri="{BB962C8B-B14F-4D97-AF65-F5344CB8AC3E}">
        <p14:creationId xmlns:p14="http://schemas.microsoft.com/office/powerpoint/2010/main" val="110535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5D198-2982-9334-6742-B70B76C86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CC0A6-286F-66A8-1B73-01EE3A46DD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43DF3-BA64-2EEF-FBA1-CC40FCAB01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C79354-16B7-ED2C-1436-862F63D8E7F4}"/>
              </a:ext>
            </a:extLst>
          </p:cNvPr>
          <p:cNvSpPr>
            <a:spLocks noGrp="1"/>
          </p:cNvSpPr>
          <p:nvPr>
            <p:ph type="sldNum" sz="quarter" idx="5"/>
          </p:nvPr>
        </p:nvSpPr>
        <p:spPr/>
        <p:txBody>
          <a:bodyPr/>
          <a:lstStyle/>
          <a:p>
            <a:fld id="{9706D261-4ACC-5E49-97C5-9D8FD2D9A3AF}" type="slidenum">
              <a:rPr lang="en-US" smtClean="0"/>
              <a:t>7</a:t>
            </a:fld>
            <a:endParaRPr lang="en-US"/>
          </a:p>
        </p:txBody>
      </p:sp>
    </p:spTree>
    <p:extLst>
      <p:ext uri="{BB962C8B-B14F-4D97-AF65-F5344CB8AC3E}">
        <p14:creationId xmlns:p14="http://schemas.microsoft.com/office/powerpoint/2010/main" val="2135641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tx1">
            <a:lumMod val="85000"/>
            <a:lumOff val="15000"/>
          </a:schemeClr>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633304" y="-648376"/>
            <a:ext cx="733465" cy="2367520"/>
            <a:chOff x="685136" y="-246616"/>
            <a:chExt cx="733465" cy="2367520"/>
          </a:xfrm>
        </p:grpSpPr>
        <p:sp>
          <p:nvSpPr>
            <p:cNvPr id="6" name="Rectangle 5"/>
            <p:cNvSpPr/>
            <p:nvPr userDrawn="1"/>
          </p:nvSpPr>
          <p:spPr>
            <a:xfrm>
              <a:off x="685136" y="-246616"/>
              <a:ext cx="733465" cy="236752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7308" y="1380149"/>
              <a:ext cx="489120" cy="620806"/>
            </a:xfrm>
            <a:prstGeom prst="rect">
              <a:avLst/>
            </a:prstGeom>
          </p:spPr>
        </p:pic>
      </p:grpSp>
      <p:sp>
        <p:nvSpPr>
          <p:cNvPr id="2" name="Title 1"/>
          <p:cNvSpPr>
            <a:spLocks noGrp="1"/>
          </p:cNvSpPr>
          <p:nvPr userDrawn="1">
            <p:ph type="title" hasCustomPrompt="1"/>
          </p:nvPr>
        </p:nvSpPr>
        <p:spPr>
          <a:xfrm>
            <a:off x="502903" y="2766523"/>
            <a:ext cx="7734221" cy="1114494"/>
          </a:xfrm>
        </p:spPr>
        <p:txBody>
          <a:bodyPr anchor="ctr">
            <a:normAutofit/>
          </a:bodyPr>
          <a:lstStyle>
            <a:lvl1pPr>
              <a:lnSpc>
                <a:spcPct val="90000"/>
              </a:lnSpc>
              <a:defRPr sz="4000" b="1" i="0" spc="0" baseline="0">
                <a:solidFill>
                  <a:schemeClr val="bg1"/>
                </a:solidFill>
                <a:latin typeface="Arial"/>
                <a:cs typeface="Arial"/>
              </a:defRPr>
            </a:lvl1pPr>
          </a:lstStyle>
          <a:p>
            <a:r>
              <a:rPr lang="en-US" dirty="0"/>
              <a:t>Unnecessarily extra long title of presentation</a:t>
            </a:r>
          </a:p>
        </p:txBody>
      </p:sp>
      <p:sp>
        <p:nvSpPr>
          <p:cNvPr id="11" name="Text Placeholder 19"/>
          <p:cNvSpPr>
            <a:spLocks noGrp="1"/>
          </p:cNvSpPr>
          <p:nvPr userDrawn="1">
            <p:ph type="body" sz="quarter" idx="10" hasCustomPrompt="1"/>
          </p:nvPr>
        </p:nvSpPr>
        <p:spPr>
          <a:xfrm>
            <a:off x="530694" y="4709821"/>
            <a:ext cx="7734222" cy="277654"/>
          </a:xfrm>
        </p:spPr>
        <p:txBody>
          <a:bodyPr anchor="ctr">
            <a:noAutofit/>
          </a:bodyPr>
          <a:lstStyle>
            <a:lvl1pPr marL="0" indent="0">
              <a:buNone/>
              <a:defRPr sz="1100" b="1" spc="80" baseline="0">
                <a:solidFill>
                  <a:srgbClr val="A6A6A6"/>
                </a:solidFill>
                <a:latin typeface="Arial"/>
                <a:cs typeface="Arial"/>
              </a:defRPr>
            </a:lvl1pPr>
          </a:lstStyle>
          <a:p>
            <a:pPr lvl="0"/>
            <a:r>
              <a:rPr lang="en-US" dirty="0"/>
              <a:t>INDIANA UNIVERSITY BLOOMINGTON</a:t>
            </a:r>
          </a:p>
        </p:txBody>
      </p:sp>
      <p:sp>
        <p:nvSpPr>
          <p:cNvPr id="9" name="Text Placeholder 19"/>
          <p:cNvSpPr>
            <a:spLocks noGrp="1"/>
          </p:cNvSpPr>
          <p:nvPr>
            <p:ph type="body" sz="quarter" idx="11" hasCustomPrompt="1"/>
          </p:nvPr>
        </p:nvSpPr>
        <p:spPr>
          <a:xfrm>
            <a:off x="530694" y="2443859"/>
            <a:ext cx="7734222" cy="252412"/>
          </a:xfrm>
        </p:spPr>
        <p:txBody>
          <a:bodyPr anchor="ctr">
            <a:noAutofit/>
          </a:bodyPr>
          <a:lstStyle>
            <a:lvl1pPr marL="0" indent="0">
              <a:buNone/>
              <a:defRPr sz="1800" b="0" spc="0" baseline="0">
                <a:solidFill>
                  <a:srgbClr val="A6A6A6"/>
                </a:solidFill>
                <a:latin typeface="Arial"/>
                <a:cs typeface="Arial"/>
              </a:defRPr>
            </a:lvl1pPr>
          </a:lstStyle>
          <a:p>
            <a:pPr lvl="0"/>
            <a:r>
              <a:rPr lang="en-US" dirty="0"/>
              <a:t>SUBHEAD OR NAME OF SCHOOL, DEPARTMENT, OR UNIT</a:t>
            </a:r>
          </a:p>
        </p:txBody>
      </p:sp>
    </p:spTree>
    <p:extLst>
      <p:ext uri="{BB962C8B-B14F-4D97-AF65-F5344CB8AC3E}">
        <p14:creationId xmlns:p14="http://schemas.microsoft.com/office/powerpoint/2010/main" val="1256653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660B13"/>
        </a:solidFill>
        <a:effectLst/>
      </p:bgPr>
    </p:bg>
    <p:spTree>
      <p:nvGrpSpPr>
        <p:cNvPr id="1" name=""/>
        <p:cNvGrpSpPr/>
        <p:nvPr/>
      </p:nvGrpSpPr>
      <p:grpSpPr>
        <a:xfrm>
          <a:off x="0" y="0"/>
          <a:ext cx="0" cy="0"/>
          <a:chOff x="0" y="0"/>
          <a:chExt cx="0" cy="0"/>
        </a:xfrm>
      </p:grpSpPr>
      <p:sp>
        <p:nvSpPr>
          <p:cNvPr id="2" name="TextBox 1"/>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0" name="TextBox 9"/>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1" name="TextBox 10"/>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4" name="Title 13"/>
          <p:cNvSpPr>
            <a:spLocks noGrp="1"/>
          </p:cNvSpPr>
          <p:nvPr>
            <p:ph type="title" hasCustomPrompt="1"/>
          </p:nvPr>
        </p:nvSpPr>
        <p:spPr>
          <a:xfrm>
            <a:off x="506694" y="2274522"/>
            <a:ext cx="6802482" cy="656910"/>
          </a:xfrm>
        </p:spPr>
        <p:txBody>
          <a:bodyPr anchor="ctr">
            <a:noAutofit/>
          </a:bodyPr>
          <a:lstStyle>
            <a:lvl1pPr>
              <a:defRPr sz="4000" b="1" i="0" spc="0" baseline="0">
                <a:solidFill>
                  <a:srgbClr val="FFFFFF"/>
                </a:solidFill>
                <a:latin typeface="Arial"/>
                <a:cs typeface="Arial"/>
              </a:defRPr>
            </a:lvl1pPr>
          </a:lstStyle>
          <a:p>
            <a:r>
              <a:rPr lang="en-US" dirty="0"/>
              <a:t>Section Heading</a:t>
            </a:r>
          </a:p>
        </p:txBody>
      </p:sp>
      <p:sp>
        <p:nvSpPr>
          <p:cNvPr id="20" name="Text Placeholder 19"/>
          <p:cNvSpPr>
            <a:spLocks noGrp="1"/>
          </p:cNvSpPr>
          <p:nvPr>
            <p:ph type="body" sz="quarter" idx="10" hasCustomPrompt="1"/>
          </p:nvPr>
        </p:nvSpPr>
        <p:spPr>
          <a:xfrm>
            <a:off x="526131" y="2031339"/>
            <a:ext cx="3700462" cy="252412"/>
          </a:xfrm>
        </p:spPr>
        <p:txBody>
          <a:bodyPr anchor="ctr">
            <a:noAutofit/>
          </a:bodyPr>
          <a:lstStyle>
            <a:lvl1pPr marL="0" indent="0">
              <a:buNone/>
              <a:defRPr sz="1400" b="1" i="0" spc="50" baseline="0">
                <a:solidFill>
                  <a:srgbClr val="A6A6A6"/>
                </a:solidFill>
                <a:latin typeface="Arial"/>
                <a:cs typeface="Arial"/>
              </a:defRPr>
            </a:lvl1pPr>
          </a:lstStyle>
          <a:p>
            <a:pPr lvl="0"/>
            <a:r>
              <a:rPr lang="en-US" dirty="0"/>
              <a:t>SECTION NUMBER OR SUBTITLE</a:t>
            </a:r>
          </a:p>
        </p:txBody>
      </p:sp>
      <p:sp>
        <p:nvSpPr>
          <p:cNvPr id="4" name="Rectangle 3"/>
          <p:cNvSpPr/>
          <p:nvPr userDrawn="1"/>
        </p:nvSpPr>
        <p:spPr>
          <a:xfrm>
            <a:off x="-14942" y="2032000"/>
            <a:ext cx="148614" cy="83670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7854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only: whi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9827" y="759070"/>
            <a:ext cx="8004391" cy="699065"/>
          </a:xfrm>
        </p:spPr>
        <p:txBody>
          <a:bodyPr>
            <a:normAutofit/>
          </a:bodyPr>
          <a:lstStyle>
            <a:lvl1pPr>
              <a:defRPr sz="3000" b="1" i="0" cap="none" spc="0">
                <a:solidFill>
                  <a:srgbClr val="404041"/>
                </a:solidFill>
                <a:latin typeface="Arial"/>
                <a:cs typeface="Arial"/>
              </a:defRPr>
            </a:lvl1pPr>
          </a:lstStyle>
          <a:p>
            <a:r>
              <a:rPr lang="en-US" dirty="0"/>
              <a:t>Click to edit master title style</a:t>
            </a:r>
          </a:p>
        </p:txBody>
      </p:sp>
      <p:sp>
        <p:nvSpPr>
          <p:cNvPr id="5" name="Rectangle 4"/>
          <p:cNvSpPr/>
          <p:nvPr userDrawn="1"/>
        </p:nvSpPr>
        <p:spPr>
          <a:xfrm>
            <a:off x="0" y="957832"/>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 Placeholder 19"/>
          <p:cNvSpPr>
            <a:spLocks noGrp="1"/>
          </p:cNvSpPr>
          <p:nvPr>
            <p:ph type="body" sz="quarter" idx="10" hasCustomPrompt="1"/>
          </p:nvPr>
        </p:nvSpPr>
        <p:spPr>
          <a:xfrm>
            <a:off x="4833956" y="284947"/>
            <a:ext cx="3700462" cy="252412"/>
          </a:xfrm>
        </p:spPr>
        <p:txBody>
          <a:bodyPr>
            <a:noAutofit/>
          </a:bodyPr>
          <a:lstStyle>
            <a:lvl1pPr marL="0" indent="0" algn="r">
              <a:buNone/>
              <a:defRPr sz="1100" b="0" i="0" spc="0" baseline="0">
                <a:solidFill>
                  <a:srgbClr val="A6A6A6"/>
                </a:solidFill>
                <a:latin typeface="Arial"/>
                <a:cs typeface="Arial"/>
              </a:defRPr>
            </a:lvl1pPr>
          </a:lstStyle>
          <a:p>
            <a:pPr lvl="0"/>
            <a:r>
              <a:rPr lang="en-US" dirty="0"/>
              <a:t>SECTION TITLE OR SUBTITLE</a:t>
            </a:r>
          </a:p>
        </p:txBody>
      </p:sp>
      <p:sp>
        <p:nvSpPr>
          <p:cNvPr id="4" name="TextBox 3"/>
          <p:cNvSpPr txBox="1"/>
          <p:nvPr userDrawn="1"/>
        </p:nvSpPr>
        <p:spPr>
          <a:xfrm>
            <a:off x="3556000" y="3541059"/>
            <a:ext cx="184666" cy="369332"/>
          </a:xfrm>
          <a:prstGeom prst="rect">
            <a:avLst/>
          </a:prstGeom>
          <a:noFill/>
        </p:spPr>
        <p:txBody>
          <a:bodyPr wrap="none" rtlCol="0">
            <a:spAutoFit/>
          </a:bodyPr>
          <a:lstStyle/>
          <a:p>
            <a:endParaRPr lang="en-US" dirty="0"/>
          </a:p>
        </p:txBody>
      </p:sp>
      <p:sp>
        <p:nvSpPr>
          <p:cNvPr id="7" name="Text Placeholder 2"/>
          <p:cNvSpPr>
            <a:spLocks noGrp="1"/>
          </p:cNvSpPr>
          <p:nvPr>
            <p:ph idx="1" hasCustomPrompt="1"/>
          </p:nvPr>
        </p:nvSpPr>
        <p:spPr>
          <a:xfrm>
            <a:off x="518824" y="1629404"/>
            <a:ext cx="8015594" cy="2810633"/>
          </a:xfrm>
          <a:prstGeom prst="rect">
            <a:avLst/>
          </a:prstGeom>
        </p:spPr>
        <p:txBody>
          <a:bodyPr vert="horz" lIns="91440" tIns="45720" rIns="91440" bIns="45720" rtlCol="0">
            <a:normAutofit/>
          </a:bodyPr>
          <a:lstStyle>
            <a:lvl1pPr marL="342900" marR="0" indent="-342900" algn="l" defTabSz="457200" rtl="0" eaLnBrk="1" fontAlgn="auto" latinLnBrk="0" hangingPunct="1">
              <a:lnSpc>
                <a:spcPct val="100000"/>
              </a:lnSpc>
              <a:spcBef>
                <a:spcPts val="0"/>
              </a:spcBef>
              <a:spcAft>
                <a:spcPts val="1800"/>
              </a:spcAft>
              <a:buClr>
                <a:schemeClr val="tx1">
                  <a:lumMod val="50000"/>
                  <a:lumOff val="50000"/>
                </a:schemeClr>
              </a:buClr>
              <a:buSzPct val="100000"/>
              <a:buFont typeface="+mj-lt"/>
              <a:buAutoNum type="arabicPeriod"/>
              <a:tabLst/>
              <a:defRPr sz="1800">
                <a:solidFill>
                  <a:srgbClr val="404041"/>
                </a:solidFill>
                <a:latin typeface="Arial"/>
                <a:cs typeface="Arial"/>
              </a:defRPr>
            </a:lvl1pPr>
            <a:lvl2pPr>
              <a:lnSpc>
                <a:spcPct val="100000"/>
              </a:lnSpc>
              <a:defRPr sz="1600">
                <a:solidFill>
                  <a:srgbClr val="404041"/>
                </a:solidFill>
                <a:latin typeface="Arial"/>
                <a:cs typeface="Arial"/>
              </a:defRPr>
            </a:lvl2pPr>
            <a:lvl3pPr>
              <a:lnSpc>
                <a:spcPct val="100000"/>
              </a:lnSpc>
              <a:defRPr sz="1600">
                <a:solidFill>
                  <a:srgbClr val="404041"/>
                </a:solidFill>
                <a:latin typeface="Arial"/>
                <a:cs typeface="Arial"/>
              </a:defRPr>
            </a:lvl3pPr>
            <a:lvl4pPr>
              <a:lnSpc>
                <a:spcPct val="100000"/>
              </a:lnSpc>
              <a:defRPr sz="1600">
                <a:solidFill>
                  <a:srgbClr val="404041"/>
                </a:solidFill>
                <a:latin typeface="Arial"/>
                <a:cs typeface="Arial"/>
              </a:defRPr>
            </a:lvl4pPr>
            <a:lvl5pPr>
              <a:lnSpc>
                <a:spcPct val="100000"/>
              </a:lnSpc>
              <a:defRPr sz="1600">
                <a:solidFill>
                  <a:srgbClr val="404041"/>
                </a:solidFill>
                <a:latin typeface="Arial"/>
                <a:cs typeface="Arial"/>
              </a:defRPr>
            </a:lvl5pPr>
          </a:lstStyle>
          <a:p>
            <a:pPr lvl="0"/>
            <a:r>
              <a:rPr lang="en-US" dirty="0"/>
              <a:t>Click to edit master subtitle style</a:t>
            </a:r>
          </a:p>
        </p:txBody>
      </p:sp>
      <p:grpSp>
        <p:nvGrpSpPr>
          <p:cNvPr id="12" name="Group 11"/>
          <p:cNvGrpSpPr/>
          <p:nvPr userDrawn="1"/>
        </p:nvGrpSpPr>
        <p:grpSpPr>
          <a:xfrm>
            <a:off x="-30788" y="4661517"/>
            <a:ext cx="9228667" cy="528963"/>
            <a:chOff x="-30788" y="4661517"/>
            <a:chExt cx="9228667" cy="528963"/>
          </a:xfrm>
        </p:grpSpPr>
        <p:sp>
          <p:nvSpPr>
            <p:cNvPr id="14" name="Rectangle 13"/>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5"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21" name="TextBox 20"/>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3682060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and photo: whit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25303" y="464386"/>
            <a:ext cx="4560579" cy="779318"/>
          </a:xfrm>
          <a:prstGeom prst="rect">
            <a:avLst/>
          </a:prstGeom>
        </p:spPr>
        <p:txBody>
          <a:bodyPr vert="horz" lIns="91440" tIns="45720" rIns="91440" bIns="45720" rtlCol="0" anchor="ctr">
            <a:noAutofit/>
          </a:bodyPr>
          <a:lstStyle>
            <a:lvl1pPr>
              <a:defRPr sz="3000" b="1" i="0" spc="0">
                <a:solidFill>
                  <a:srgbClr val="404041"/>
                </a:solidFill>
                <a:latin typeface="Arial"/>
                <a:cs typeface="Arial"/>
              </a:defRPr>
            </a:lvl1pPr>
          </a:lstStyle>
          <a:p>
            <a:r>
              <a:rPr lang="en-US" dirty="0"/>
              <a:t>Click to edit master title style</a:t>
            </a:r>
          </a:p>
        </p:txBody>
      </p:sp>
      <p:sp>
        <p:nvSpPr>
          <p:cNvPr id="8" name="Text Placeholder 2"/>
          <p:cNvSpPr>
            <a:spLocks noGrp="1"/>
          </p:cNvSpPr>
          <p:nvPr>
            <p:ph idx="1"/>
          </p:nvPr>
        </p:nvSpPr>
        <p:spPr>
          <a:xfrm>
            <a:off x="525303" y="1629405"/>
            <a:ext cx="4560579" cy="2792362"/>
          </a:xfrm>
          <a:prstGeom prst="rect">
            <a:avLst/>
          </a:prstGeom>
        </p:spPr>
        <p:txBody>
          <a:bodyPr vert="horz" lIns="91440" tIns="45720" rIns="91440" bIns="45720" rtlCol="0">
            <a:normAutofit/>
          </a:bodyPr>
          <a:lstStyle>
            <a:lvl1pPr marL="342900" indent="-342900">
              <a:lnSpc>
                <a:spcPct val="100000"/>
              </a:lnSpc>
              <a:buFont typeface="Arial"/>
              <a:buChar char="•"/>
              <a:defRPr sz="1800">
                <a:solidFill>
                  <a:srgbClr val="404041"/>
                </a:solidFill>
                <a:latin typeface="Arial"/>
                <a:cs typeface="Arial"/>
              </a:defRPr>
            </a:lvl1pPr>
            <a:lvl2pPr marL="742950" indent="-285750">
              <a:lnSpc>
                <a:spcPct val="100000"/>
              </a:lnSpc>
              <a:buFont typeface="Arial"/>
              <a:buChar char="•"/>
              <a:defRPr sz="1800">
                <a:solidFill>
                  <a:srgbClr val="404041"/>
                </a:solidFill>
                <a:latin typeface="Arial"/>
                <a:cs typeface="Arial"/>
              </a:defRPr>
            </a:lvl2pPr>
            <a:lvl3pPr marL="1143000" indent="-228600">
              <a:lnSpc>
                <a:spcPct val="100000"/>
              </a:lnSpc>
              <a:buFont typeface="Arial"/>
              <a:buChar char="•"/>
              <a:defRPr sz="1800">
                <a:solidFill>
                  <a:srgbClr val="404041"/>
                </a:solidFill>
                <a:latin typeface="Arial"/>
                <a:cs typeface="Arial"/>
              </a:defRPr>
            </a:lvl3pPr>
            <a:lvl4pPr marL="1600200" indent="-228600">
              <a:lnSpc>
                <a:spcPct val="100000"/>
              </a:lnSpc>
              <a:buFont typeface="Arial"/>
              <a:buChar char="•"/>
              <a:defRPr sz="1800">
                <a:solidFill>
                  <a:srgbClr val="404041"/>
                </a:solidFill>
                <a:latin typeface="Arial"/>
                <a:cs typeface="Arial"/>
              </a:defRPr>
            </a:lvl4pPr>
            <a:lvl5pPr marL="2057400" indent="-228600">
              <a:lnSpc>
                <a:spcPct val="100000"/>
              </a:lnSpc>
              <a:buFont typeface="Arial"/>
              <a:buChar char="•"/>
              <a:defRPr sz="1800">
                <a:solidFill>
                  <a:srgbClr val="404041"/>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0"/>
          </p:nvPr>
        </p:nvSpPr>
        <p:spPr>
          <a:xfrm>
            <a:off x="5573058" y="0"/>
            <a:ext cx="3570941" cy="5143500"/>
          </a:xfrm>
        </p:spPr>
        <p:txBody>
          <a:bodyPr/>
          <a:lstStyle/>
          <a:p>
            <a:r>
              <a:rPr lang="en-US"/>
              <a:t>Click icon to add picture</a:t>
            </a:r>
          </a:p>
        </p:txBody>
      </p:sp>
      <p:sp>
        <p:nvSpPr>
          <p:cNvPr id="17" name="Rectangle 16"/>
          <p:cNvSpPr/>
          <p:nvPr userDrawn="1"/>
        </p:nvSpPr>
        <p:spPr>
          <a:xfrm>
            <a:off x="0" y="486799"/>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635303" y="4661517"/>
            <a:ext cx="387197" cy="528963"/>
            <a:chOff x="635303" y="4661517"/>
            <a:chExt cx="387197" cy="528963"/>
          </a:xfrm>
        </p:grpSpPr>
        <p:sp>
          <p:nvSpPr>
            <p:cNvPr id="11" name="Rectangle 10"/>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grpSp>
    </p:spTree>
    <p:extLst>
      <p:ext uri="{BB962C8B-B14F-4D97-AF65-F5344CB8AC3E}">
        <p14:creationId xmlns:p14="http://schemas.microsoft.com/office/powerpoint/2010/main" val="3220382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only: black">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3348" y="759070"/>
            <a:ext cx="8004409" cy="699065"/>
          </a:xfrm>
        </p:spPr>
        <p:txBody>
          <a:bodyPr>
            <a:normAutofit/>
          </a:bodyPr>
          <a:lstStyle>
            <a:lvl1pPr>
              <a:defRPr sz="3000" b="1" i="0" cap="none" spc="0">
                <a:solidFill>
                  <a:schemeClr val="bg1"/>
                </a:solidFill>
                <a:latin typeface="Arial"/>
                <a:cs typeface="Arial"/>
              </a:defRPr>
            </a:lvl1pPr>
          </a:lstStyle>
          <a:p>
            <a:r>
              <a:rPr lang="en-US" dirty="0"/>
              <a:t>Click to edit master title style</a:t>
            </a:r>
          </a:p>
        </p:txBody>
      </p:sp>
      <p:sp>
        <p:nvSpPr>
          <p:cNvPr id="3" name="Subtitle 2"/>
          <p:cNvSpPr>
            <a:spLocks noGrp="1"/>
          </p:cNvSpPr>
          <p:nvPr>
            <p:ph type="subTitle" idx="1"/>
          </p:nvPr>
        </p:nvSpPr>
        <p:spPr>
          <a:xfrm>
            <a:off x="523348" y="1630404"/>
            <a:ext cx="8011069" cy="2818769"/>
          </a:xfrm>
        </p:spPr>
        <p:txBody>
          <a:bodyPr>
            <a:normAutofit/>
          </a:bodyPr>
          <a:lstStyle>
            <a:lvl1pPr marL="342900" indent="-342900" algn="l">
              <a:lnSpc>
                <a:spcPct val="100000"/>
              </a:lnSpc>
              <a:buFont typeface="+mj-lt"/>
              <a:buAutoNum type="arabicPeriod"/>
              <a:defRPr sz="1800" spc="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3" name="Text Placeholder 19"/>
          <p:cNvSpPr>
            <a:spLocks noGrp="1"/>
          </p:cNvSpPr>
          <p:nvPr>
            <p:ph type="body" sz="quarter" idx="10" hasCustomPrompt="1"/>
          </p:nvPr>
        </p:nvSpPr>
        <p:spPr>
          <a:xfrm>
            <a:off x="4833956" y="284947"/>
            <a:ext cx="3700462" cy="252412"/>
          </a:xfrm>
        </p:spPr>
        <p:txBody>
          <a:bodyPr>
            <a:noAutofit/>
          </a:bodyPr>
          <a:lstStyle>
            <a:lvl1pPr marL="0" indent="0" algn="r">
              <a:buNone/>
              <a:defRPr sz="1100" b="0" i="0" spc="0" baseline="0">
                <a:solidFill>
                  <a:srgbClr val="A6A6A6"/>
                </a:solidFill>
                <a:latin typeface="Arial"/>
                <a:cs typeface="Arial"/>
              </a:defRPr>
            </a:lvl1pPr>
          </a:lstStyle>
          <a:p>
            <a:pPr lvl="0"/>
            <a:r>
              <a:rPr lang="en-US" dirty="0"/>
              <a:t>SECTION TITLE OR SUBTITLE</a:t>
            </a:r>
          </a:p>
        </p:txBody>
      </p:sp>
      <p:sp>
        <p:nvSpPr>
          <p:cNvPr id="23" name="Rectangle 22"/>
          <p:cNvSpPr/>
          <p:nvPr userDrawn="1"/>
        </p:nvSpPr>
        <p:spPr>
          <a:xfrm>
            <a:off x="0" y="957832"/>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 name="Group 10"/>
          <p:cNvGrpSpPr/>
          <p:nvPr userDrawn="1"/>
        </p:nvGrpSpPr>
        <p:grpSpPr>
          <a:xfrm>
            <a:off x="-30788" y="4661517"/>
            <a:ext cx="9228667" cy="528963"/>
            <a:chOff x="-30788" y="4661517"/>
            <a:chExt cx="9228667" cy="528963"/>
          </a:xfrm>
        </p:grpSpPr>
        <p:sp>
          <p:nvSpPr>
            <p:cNvPr id="12" name="Rectangle 11"/>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6" name="TextBox 15"/>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1728351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photo: black">
    <p:bg>
      <p:bgPr>
        <a:solidFill>
          <a:srgbClr val="252626"/>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30124" y="464386"/>
            <a:ext cx="4560579" cy="779318"/>
          </a:xfrm>
          <a:prstGeom prst="rect">
            <a:avLst/>
          </a:prstGeom>
        </p:spPr>
        <p:txBody>
          <a:bodyPr vert="horz" lIns="91440" tIns="45720" rIns="91440" bIns="45720" rtlCol="0" anchor="ctr">
            <a:noAutofit/>
          </a:bodyPr>
          <a:lstStyle>
            <a:lvl1pPr>
              <a:defRPr sz="3000" b="1" i="0" spc="0">
                <a:solidFill>
                  <a:schemeClr val="bg1"/>
                </a:solidFill>
                <a:latin typeface="Arial"/>
                <a:cs typeface="Arial"/>
              </a:defRPr>
            </a:lvl1pPr>
          </a:lstStyle>
          <a:p>
            <a:r>
              <a:rPr lang="en-US" dirty="0"/>
              <a:t>Click to edit master title style</a:t>
            </a:r>
          </a:p>
        </p:txBody>
      </p:sp>
      <p:sp>
        <p:nvSpPr>
          <p:cNvPr id="8" name="Text Placeholder 2"/>
          <p:cNvSpPr>
            <a:spLocks noGrp="1"/>
          </p:cNvSpPr>
          <p:nvPr>
            <p:ph idx="1"/>
          </p:nvPr>
        </p:nvSpPr>
        <p:spPr>
          <a:xfrm>
            <a:off x="530124" y="1629404"/>
            <a:ext cx="4560579" cy="2801497"/>
          </a:xfrm>
          <a:prstGeom prst="rect">
            <a:avLst/>
          </a:prstGeom>
        </p:spPr>
        <p:txBody>
          <a:bodyPr vert="horz" lIns="91440" tIns="45720" rIns="91440" bIns="45720" rtlCol="0">
            <a:normAutofit/>
          </a:bodyPr>
          <a:lstStyle>
            <a:lvl1pPr marL="342900" indent="-342900">
              <a:lnSpc>
                <a:spcPct val="100000"/>
              </a:lnSpc>
              <a:buFont typeface="Arial"/>
              <a:buChar char="•"/>
              <a:defRPr sz="1800">
                <a:solidFill>
                  <a:schemeClr val="bg1"/>
                </a:solidFill>
                <a:latin typeface="Arial"/>
                <a:cs typeface="Arial"/>
              </a:defRPr>
            </a:lvl1pPr>
            <a:lvl2pPr marL="742950" indent="-285750">
              <a:lnSpc>
                <a:spcPct val="100000"/>
              </a:lnSpc>
              <a:buFont typeface="Arial"/>
              <a:buChar char="•"/>
              <a:defRPr sz="1800">
                <a:solidFill>
                  <a:schemeClr val="bg1"/>
                </a:solidFill>
                <a:latin typeface="Arial"/>
                <a:cs typeface="Arial"/>
              </a:defRPr>
            </a:lvl2pPr>
            <a:lvl3pPr marL="1143000" indent="-228600">
              <a:lnSpc>
                <a:spcPct val="100000"/>
              </a:lnSpc>
              <a:buFont typeface="Arial"/>
              <a:buChar char="•"/>
              <a:defRPr sz="1800">
                <a:solidFill>
                  <a:schemeClr val="bg1"/>
                </a:solidFill>
                <a:latin typeface="Arial"/>
                <a:cs typeface="Arial"/>
              </a:defRPr>
            </a:lvl3pPr>
            <a:lvl4pPr marL="1600200" indent="-228600">
              <a:lnSpc>
                <a:spcPct val="100000"/>
              </a:lnSpc>
              <a:buFont typeface="Arial"/>
              <a:buChar char="•"/>
              <a:defRPr sz="1800">
                <a:solidFill>
                  <a:schemeClr val="bg1"/>
                </a:solidFill>
                <a:latin typeface="Arial"/>
                <a:cs typeface="Arial"/>
              </a:defRPr>
            </a:lvl4pPr>
            <a:lvl5pPr marL="2057400" indent="-228600">
              <a:lnSpc>
                <a:spcPct val="100000"/>
              </a:lnSpc>
              <a:buFont typeface="Arial"/>
              <a:buChar char="•"/>
              <a:defRPr sz="1800">
                <a:solidFill>
                  <a:schemeClr val="bg1"/>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0"/>
          </p:nvPr>
        </p:nvSpPr>
        <p:spPr>
          <a:xfrm>
            <a:off x="5564909" y="0"/>
            <a:ext cx="3570941" cy="5143500"/>
          </a:xfrm>
        </p:spPr>
        <p:txBody>
          <a:bodyPr/>
          <a:lstStyle/>
          <a:p>
            <a:r>
              <a:rPr lang="en-US"/>
              <a:t>Click icon to add picture</a:t>
            </a:r>
            <a:endParaRPr lang="en-US" dirty="0"/>
          </a:p>
        </p:txBody>
      </p:sp>
      <p:sp>
        <p:nvSpPr>
          <p:cNvPr id="13" name="Rectangle 12"/>
          <p:cNvSpPr/>
          <p:nvPr userDrawn="1"/>
        </p:nvSpPr>
        <p:spPr>
          <a:xfrm>
            <a:off x="-15847" y="486799"/>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635303" y="4661517"/>
            <a:ext cx="387197" cy="528963"/>
            <a:chOff x="635303" y="4661517"/>
            <a:chExt cx="387197" cy="528963"/>
          </a:xfrm>
        </p:grpSpPr>
        <p:sp>
          <p:nvSpPr>
            <p:cNvPr id="12" name="Rectangle 11"/>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grpSp>
    </p:spTree>
    <p:extLst>
      <p:ext uri="{BB962C8B-B14F-4D97-AF65-F5344CB8AC3E}">
        <p14:creationId xmlns:p14="http://schemas.microsoft.com/office/powerpoint/2010/main" val="114336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with footer: white">
    <p:spTree>
      <p:nvGrpSpPr>
        <p:cNvPr id="1" name=""/>
        <p:cNvGrpSpPr/>
        <p:nvPr/>
      </p:nvGrpSpPr>
      <p:grpSpPr>
        <a:xfrm>
          <a:off x="0" y="0"/>
          <a:ext cx="0" cy="0"/>
          <a:chOff x="0" y="0"/>
          <a:chExt cx="0" cy="0"/>
        </a:xfrm>
      </p:grpSpPr>
      <p:grpSp>
        <p:nvGrpSpPr>
          <p:cNvPr id="8" name="Group 7"/>
          <p:cNvGrpSpPr/>
          <p:nvPr userDrawn="1"/>
        </p:nvGrpSpPr>
        <p:grpSpPr>
          <a:xfrm>
            <a:off x="-30788" y="4661517"/>
            <a:ext cx="9228667" cy="528963"/>
            <a:chOff x="-30788" y="4661517"/>
            <a:chExt cx="9228667" cy="528963"/>
          </a:xfrm>
        </p:grpSpPr>
        <p:sp>
          <p:nvSpPr>
            <p:cNvPr id="9" name="Rectangle 8"/>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2" name="TextBox 11"/>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1315652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with footer: black">
    <p:bg>
      <p:bgPr>
        <a:solidFill>
          <a:srgbClr val="252626"/>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30788" y="4661517"/>
            <a:ext cx="9228667" cy="528963"/>
            <a:chOff x="-30788" y="4661517"/>
            <a:chExt cx="9228667" cy="528963"/>
          </a:xfrm>
        </p:grpSpPr>
        <p:sp>
          <p:nvSpPr>
            <p:cNvPr id="12" name="Rectangle 11"/>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6" name="TextBox 15"/>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727036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slide with IUPUI lockup">
    <p:bg>
      <p:bgPr>
        <a:solidFill>
          <a:srgbClr val="690304"/>
        </a:solidFill>
        <a:effectLst/>
      </p:bgPr>
    </p:bg>
    <p:spTree>
      <p:nvGrpSpPr>
        <p:cNvPr id="1" name=""/>
        <p:cNvGrpSpPr/>
        <p:nvPr/>
      </p:nvGrpSpPr>
      <p:grpSpPr>
        <a:xfrm>
          <a:off x="0" y="0"/>
          <a:ext cx="0" cy="0"/>
          <a:chOff x="0" y="0"/>
          <a:chExt cx="0" cy="0"/>
        </a:xfrm>
      </p:grpSpPr>
      <p:sp>
        <p:nvSpPr>
          <p:cNvPr id="8" name="Text Placeholder 2"/>
          <p:cNvSpPr>
            <a:spLocks noGrp="1"/>
          </p:cNvSpPr>
          <p:nvPr userDrawn="1">
            <p:ph idx="1"/>
          </p:nvPr>
        </p:nvSpPr>
        <p:spPr>
          <a:xfrm>
            <a:off x="536602" y="680397"/>
            <a:ext cx="7859185" cy="2721665"/>
          </a:xfrm>
          <a:prstGeom prst="rect">
            <a:avLst/>
          </a:prstGeom>
        </p:spPr>
        <p:txBody>
          <a:bodyPr vert="horz" lIns="91440" tIns="45720" rIns="91440" bIns="45720" rtlCol="0">
            <a:normAutofit/>
          </a:bodyPr>
          <a:lstStyle>
            <a:lvl1pPr marL="0" indent="0">
              <a:lnSpc>
                <a:spcPct val="100000"/>
              </a:lnSpc>
              <a:buNone/>
              <a:defRPr sz="1800">
                <a:solidFill>
                  <a:schemeClr val="bg1"/>
                </a:solidFill>
                <a:latin typeface="Arial"/>
                <a:cs typeface="Arial"/>
              </a:defRPr>
            </a:lvl1pPr>
            <a:lvl2pPr marL="457200" indent="0">
              <a:lnSpc>
                <a:spcPct val="100000"/>
              </a:lnSpc>
              <a:buNone/>
              <a:defRPr sz="1600">
                <a:solidFill>
                  <a:schemeClr val="bg1"/>
                </a:solidFill>
                <a:latin typeface="Arial"/>
                <a:cs typeface="Arial"/>
              </a:defRPr>
            </a:lvl2pPr>
            <a:lvl3pPr marL="914400" indent="0">
              <a:lnSpc>
                <a:spcPct val="100000"/>
              </a:lnSpc>
              <a:buNone/>
              <a:defRPr sz="1600">
                <a:solidFill>
                  <a:schemeClr val="bg1"/>
                </a:solidFill>
                <a:latin typeface="Arial"/>
                <a:cs typeface="Arial"/>
              </a:defRPr>
            </a:lvl3pPr>
            <a:lvl4pPr marL="1371600" indent="0">
              <a:lnSpc>
                <a:spcPct val="100000"/>
              </a:lnSpc>
              <a:buNone/>
              <a:defRPr sz="1600">
                <a:solidFill>
                  <a:schemeClr val="bg1"/>
                </a:solidFill>
                <a:latin typeface="Arial"/>
                <a:cs typeface="Arial"/>
              </a:defRPr>
            </a:lvl4pPr>
            <a:lvl5pPr>
              <a:lnSpc>
                <a:spcPct val="100000"/>
              </a:lnSpc>
              <a:defRPr sz="1600">
                <a:solidFill>
                  <a:schemeClr val="bg1"/>
                </a:solidFill>
                <a:latin typeface="Arial"/>
                <a:cs typeface="Arial"/>
              </a:defRPr>
            </a:lvl5pPr>
          </a:lstStyle>
          <a:p>
            <a:pPr lvl="0"/>
            <a:r>
              <a:rPr lang="en-US"/>
              <a:t>Click to edit Master text styles</a:t>
            </a:r>
          </a:p>
        </p:txBody>
      </p:sp>
      <p:sp>
        <p:nvSpPr>
          <p:cNvPr id="10" name="Rectangle 9"/>
          <p:cNvSpPr/>
          <p:nvPr userDrawn="1"/>
        </p:nvSpPr>
        <p:spPr>
          <a:xfrm>
            <a:off x="-15847" y="680397"/>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31042" y="4235585"/>
            <a:ext cx="536130" cy="922081"/>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28D10E6-FF8A-CC4E-B6D5-BFBD2D0FEC82}"/>
              </a:ext>
            </a:extLst>
          </p:cNvPr>
          <p:cNvPicPr>
            <a:picLocks noChangeAspect="1"/>
          </p:cNvPicPr>
          <p:nvPr userDrawn="1"/>
        </p:nvPicPr>
        <p:blipFill rotWithShape="1">
          <a:blip r:embed="rId2"/>
          <a:srcRect l="11083" t="-148" r="-1556" b="28718"/>
          <a:stretch/>
        </p:blipFill>
        <p:spPr>
          <a:xfrm>
            <a:off x="1240484" y="4147274"/>
            <a:ext cx="4622227" cy="457200"/>
          </a:xfrm>
          <a:prstGeom prst="rect">
            <a:avLst/>
          </a:prstGeom>
        </p:spPr>
      </p:pic>
      <p:pic>
        <p:nvPicPr>
          <p:cNvPr id="13" name="Picture 12" descr="tab-rgb.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0345" y="4326066"/>
            <a:ext cx="357525" cy="453783"/>
          </a:xfrm>
          <a:prstGeom prst="rect">
            <a:avLst/>
          </a:prstGeom>
        </p:spPr>
      </p:pic>
    </p:spTree>
    <p:extLst>
      <p:ext uri="{BB962C8B-B14F-4D97-AF65-F5344CB8AC3E}">
        <p14:creationId xmlns:p14="http://schemas.microsoft.com/office/powerpoint/2010/main" val="1189661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61892" y="634604"/>
            <a:ext cx="6802482" cy="8572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61892" y="1589938"/>
            <a:ext cx="6802482" cy="32152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3843513"/>
      </p:ext>
    </p:extLst>
  </p:cSld>
  <p:clrMap bg1="lt1" tx1="dk1" bg2="lt2" tx2="dk2" accent1="accent1" accent2="accent2" accent3="accent3" accent4="accent4" accent5="accent5" accent6="accent6" hlink="hlink" folHlink="folHlink"/>
  <p:sldLayoutIdLst>
    <p:sldLayoutId id="2147493469" r:id="rId1"/>
    <p:sldLayoutId id="2147493467" r:id="rId2"/>
    <p:sldLayoutId id="2147493472" r:id="rId3"/>
    <p:sldLayoutId id="2147493457" r:id="rId4"/>
    <p:sldLayoutId id="2147493456" r:id="rId5"/>
    <p:sldLayoutId id="2147493474" r:id="rId6"/>
    <p:sldLayoutId id="2147493475" r:id="rId7"/>
    <p:sldLayoutId id="2147493476" r:id="rId8"/>
    <p:sldLayoutId id="2147493477" r:id="rId9"/>
  </p:sldLayoutIdLst>
  <p:txStyles>
    <p:titleStyle>
      <a:lvl1pPr algn="l" defTabSz="457200" rtl="0" eaLnBrk="1" latinLnBrk="0" hangingPunct="1">
        <a:spcBef>
          <a:spcPct val="0"/>
        </a:spcBef>
        <a:buNone/>
        <a:defRPr sz="3200" b="1" i="0" kern="100" spc="0">
          <a:solidFill>
            <a:schemeClr val="tx1"/>
          </a:solidFill>
          <a:latin typeface="Arial"/>
          <a:ea typeface="+mj-ea"/>
          <a:cs typeface="Arial"/>
        </a:defRPr>
      </a:lvl1pPr>
    </p:titleStyle>
    <p:bodyStyle>
      <a:lvl1pPr marL="342900" indent="-342900" algn="l"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Char char="§"/>
        <a:defRPr sz="1800" kern="120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Approximate Bayesian Computation for Household Influenza Outbreaks</a:t>
            </a:r>
          </a:p>
        </p:txBody>
      </p:sp>
      <p:sp>
        <p:nvSpPr>
          <p:cNvPr id="3" name="Text Placeholder 2"/>
          <p:cNvSpPr>
            <a:spLocks noGrp="1"/>
          </p:cNvSpPr>
          <p:nvPr>
            <p:ph type="body" sz="quarter" idx="10"/>
          </p:nvPr>
        </p:nvSpPr>
        <p:spPr/>
        <p:txBody>
          <a:bodyPr/>
          <a:lstStyle/>
          <a:p>
            <a:r>
              <a:rPr lang="en-US" dirty="0"/>
              <a:t>INDIANA UNIVERSITY BLOOMINGTON</a:t>
            </a:r>
          </a:p>
        </p:txBody>
      </p:sp>
      <p:sp>
        <p:nvSpPr>
          <p:cNvPr id="5" name="Text Placeholder 2">
            <a:extLst>
              <a:ext uri="{FF2B5EF4-FFF2-40B4-BE49-F238E27FC236}">
                <a16:creationId xmlns:a16="http://schemas.microsoft.com/office/drawing/2014/main" id="{A2B1B642-CA24-83A2-C3BF-E020FCF38B37}"/>
              </a:ext>
            </a:extLst>
          </p:cNvPr>
          <p:cNvSpPr txBox="1">
            <a:spLocks/>
          </p:cNvSpPr>
          <p:nvPr/>
        </p:nvSpPr>
        <p:spPr>
          <a:xfrm>
            <a:off x="7913054" y="4709821"/>
            <a:ext cx="1091462" cy="277654"/>
          </a:xfrm>
          <a:prstGeom prst="rect">
            <a:avLst/>
          </a:prstGeom>
        </p:spPr>
        <p:txBody>
          <a:bodyPr vert="horz" lIns="91440" tIns="45720" rIns="91440" bIns="45720" rtlCol="0" anchor="ctr">
            <a:noAutofit/>
          </a:bodyPr>
          <a:lstStyle>
            <a:lvl1pPr marL="0" indent="0" algn="l"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100" b="1" kern="1200" spc="80" baseline="0">
                <a:solidFill>
                  <a:srgbClr val="A6A6A6"/>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Rubiga Kim</a:t>
            </a:r>
          </a:p>
        </p:txBody>
      </p:sp>
      <p:sp>
        <p:nvSpPr>
          <p:cNvPr id="10" name="Text Placeholder 2">
            <a:extLst>
              <a:ext uri="{FF2B5EF4-FFF2-40B4-BE49-F238E27FC236}">
                <a16:creationId xmlns:a16="http://schemas.microsoft.com/office/drawing/2014/main" id="{93FD858D-BD2B-0B74-3CC8-998BA6D8597A}"/>
              </a:ext>
            </a:extLst>
          </p:cNvPr>
          <p:cNvSpPr txBox="1">
            <a:spLocks/>
          </p:cNvSpPr>
          <p:nvPr/>
        </p:nvSpPr>
        <p:spPr>
          <a:xfrm>
            <a:off x="502902" y="2074467"/>
            <a:ext cx="7734222" cy="277654"/>
          </a:xfrm>
          <a:prstGeom prst="rect">
            <a:avLst/>
          </a:prstGeom>
        </p:spPr>
        <p:txBody>
          <a:bodyPr vert="horz" lIns="91440" tIns="45720" rIns="91440" bIns="45720" rtlCol="0" anchor="ctr">
            <a:noAutofit/>
          </a:bodyPr>
          <a:lstStyle>
            <a:lvl1pPr marL="0" indent="0" algn="l"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100" b="1" kern="1200" spc="80" baseline="0">
                <a:solidFill>
                  <a:srgbClr val="A6A6A6"/>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Tony and Stumpf, “Simulation-based model selection for dynamical systems in systems and population biology”, Bioinformatics (2010)</a:t>
            </a:r>
          </a:p>
        </p:txBody>
      </p:sp>
    </p:spTree>
    <p:extLst>
      <p:ext uri="{BB962C8B-B14F-4D97-AF65-F5344CB8AC3E}">
        <p14:creationId xmlns:p14="http://schemas.microsoft.com/office/powerpoint/2010/main" val="919017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Real-World Question: </a:t>
            </a:r>
          </a:p>
        </p:txBody>
      </p:sp>
      <p:sp>
        <p:nvSpPr>
          <p:cNvPr id="3" name="Text Placeholder 2"/>
          <p:cNvSpPr>
            <a:spLocks noGrp="1"/>
          </p:cNvSpPr>
          <p:nvPr>
            <p:ph type="body" sz="quarter" idx="10"/>
          </p:nvPr>
        </p:nvSpPr>
        <p:spPr/>
        <p:txBody>
          <a:bodyPr/>
          <a:lstStyle/>
          <a:p>
            <a:r>
              <a:rPr lang="en-US" dirty="0"/>
              <a:t>Project Objectives</a:t>
            </a:r>
          </a:p>
          <a:p>
            <a:endParaRPr lang="en-US" dirty="0"/>
          </a:p>
        </p:txBody>
      </p:sp>
      <p:sp>
        <p:nvSpPr>
          <p:cNvPr id="4" name="Content Placeholder 3"/>
          <p:cNvSpPr>
            <a:spLocks noGrp="1"/>
          </p:cNvSpPr>
          <p:nvPr>
            <p:ph idx="1"/>
          </p:nvPr>
        </p:nvSpPr>
        <p:spPr>
          <a:xfrm>
            <a:off x="524225" y="1458135"/>
            <a:ext cx="8015594" cy="1601993"/>
          </a:xfrm>
        </p:spPr>
        <p:txBody>
          <a:bodyPr>
            <a:normAutofit fontScale="92500" lnSpcReduction="20000"/>
          </a:bodyPr>
          <a:lstStyle/>
          <a:p>
            <a:pPr marL="0" indent="0">
              <a:buNone/>
            </a:pPr>
            <a:r>
              <a:rPr lang="en-US" sz="1900" b="1" dirty="0"/>
              <a:t>When influenza outbreaks occur, do they spread the same way?</a:t>
            </a:r>
          </a:p>
          <a:p>
            <a:pPr marL="685800" lvl="1">
              <a:buFont typeface="Arial" panose="020B0604020202020204" pitchFamily="34" charset="0"/>
              <a:buChar char="•"/>
            </a:pPr>
            <a:r>
              <a:rPr lang="en-US" sz="1700" dirty="0"/>
              <a:t>Two H3N2 outbreaks in Michigan (1977-78, 1980-81) and different strains in Seattle (Influenza B vs H1N1)</a:t>
            </a:r>
          </a:p>
          <a:p>
            <a:pPr marL="685800" lvl="1">
              <a:buFont typeface="Arial" panose="020B0604020202020204" pitchFamily="34" charset="0"/>
              <a:buChar char="•"/>
            </a:pPr>
            <a:r>
              <a:rPr lang="en-US" sz="1700" b="1" dirty="0"/>
              <a:t>Key question: </a:t>
            </a:r>
            <a:r>
              <a:rPr lang="en-US" sz="1700" dirty="0"/>
              <a:t>Are transmission dynamics strain-specific or outbreak-specific</a:t>
            </a:r>
          </a:p>
          <a:p>
            <a:pPr marL="685800" lvl="1">
              <a:buFont typeface="Arial" panose="020B0604020202020204" pitchFamily="34" charset="0"/>
              <a:buChar char="•"/>
            </a:pPr>
            <a:endParaRPr lang="en-US" sz="1700" dirty="0"/>
          </a:p>
          <a:p>
            <a:pPr marL="400050" lvl="1" indent="0">
              <a:buNone/>
            </a:pPr>
            <a:endParaRPr lang="en-US" dirty="0"/>
          </a:p>
        </p:txBody>
      </p:sp>
      <p:sp>
        <p:nvSpPr>
          <p:cNvPr id="5" name="Content Placeholder 3">
            <a:extLst>
              <a:ext uri="{FF2B5EF4-FFF2-40B4-BE49-F238E27FC236}">
                <a16:creationId xmlns:a16="http://schemas.microsoft.com/office/drawing/2014/main" id="{14AF339C-C401-1C09-0705-603EB761F154}"/>
              </a:ext>
            </a:extLst>
          </p:cNvPr>
          <p:cNvSpPr txBox="1">
            <a:spLocks/>
          </p:cNvSpPr>
          <p:nvPr/>
        </p:nvSpPr>
        <p:spPr>
          <a:xfrm>
            <a:off x="564203" y="2884369"/>
            <a:ext cx="8015594" cy="1601993"/>
          </a:xfrm>
          <a:prstGeom prst="rect">
            <a:avLst/>
          </a:prstGeom>
        </p:spPr>
        <p:txBody>
          <a:bodyPr vert="horz" lIns="91440" tIns="45720" rIns="91440" bIns="45720" rtlCol="0">
            <a:normAutofit/>
          </a:bodyPr>
          <a:lstStyle>
            <a:lvl1pPr marL="342900" marR="0" indent="-342900" algn="l" defTabSz="457200" rtl="0" eaLnBrk="1" fontAlgn="auto" latinLnBrk="0" hangingPunct="1">
              <a:lnSpc>
                <a:spcPct val="100000"/>
              </a:lnSpc>
              <a:spcBef>
                <a:spcPts val="0"/>
              </a:spcBef>
              <a:spcAft>
                <a:spcPts val="1800"/>
              </a:spcAft>
              <a:buClr>
                <a:schemeClr val="tx1">
                  <a:lumMod val="50000"/>
                  <a:lumOff val="50000"/>
                </a:schemeClr>
              </a:buClr>
              <a:buSzPct val="100000"/>
              <a:buFont typeface="+mj-lt"/>
              <a:buAutoNum type="arabicPeriod"/>
              <a:tabLst/>
              <a:defRPr sz="1800" kern="1200">
                <a:solidFill>
                  <a:srgbClr val="40404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mj-lt"/>
              <a:buNone/>
            </a:pPr>
            <a:r>
              <a:rPr lang="en-US" b="1" dirty="0"/>
              <a:t>Why this matters? </a:t>
            </a:r>
          </a:p>
          <a:p>
            <a:pPr marL="685800" lvl="1">
              <a:buFont typeface="Arial" panose="020B0604020202020204" pitchFamily="34" charset="0"/>
              <a:buChar char="•"/>
            </a:pPr>
            <a:r>
              <a:rPr lang="en-US" b="1" dirty="0"/>
              <a:t>Public health planning: </a:t>
            </a:r>
            <a:r>
              <a:rPr lang="en-US" dirty="0"/>
              <a:t>Different strains need different interventions</a:t>
            </a:r>
          </a:p>
          <a:p>
            <a:pPr marL="685800" lvl="1">
              <a:buFont typeface="Arial" panose="020B0604020202020204" pitchFamily="34" charset="0"/>
              <a:buChar char="•"/>
            </a:pPr>
            <a:r>
              <a:rPr lang="en-US" b="1" dirty="0"/>
              <a:t>Resource allocation: </a:t>
            </a:r>
            <a:r>
              <a:rPr lang="en-US" dirty="0"/>
              <a:t>Where to focus prevention efforts</a:t>
            </a:r>
          </a:p>
        </p:txBody>
      </p:sp>
    </p:spTree>
    <p:extLst>
      <p:ext uri="{BB962C8B-B14F-4D97-AF65-F5344CB8AC3E}">
        <p14:creationId xmlns:p14="http://schemas.microsoft.com/office/powerpoint/2010/main" val="2144012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303" y="464386"/>
            <a:ext cx="6448934" cy="779318"/>
          </a:xfrm>
        </p:spPr>
        <p:txBody>
          <a:bodyPr/>
          <a:lstStyle/>
          <a:p>
            <a:r>
              <a:rPr lang="en-US" dirty="0"/>
              <a:t>Project Overview &amp; Objectives</a:t>
            </a:r>
          </a:p>
        </p:txBody>
      </p:sp>
      <p:sp>
        <p:nvSpPr>
          <p:cNvPr id="9" name="Content Placeholder 3">
            <a:extLst>
              <a:ext uri="{FF2B5EF4-FFF2-40B4-BE49-F238E27FC236}">
                <a16:creationId xmlns:a16="http://schemas.microsoft.com/office/drawing/2014/main" id="{3D10443B-18E5-CF39-4243-FC7998147A5A}"/>
              </a:ext>
            </a:extLst>
          </p:cNvPr>
          <p:cNvSpPr>
            <a:spLocks noGrp="1"/>
          </p:cNvSpPr>
          <p:nvPr>
            <p:ph idx="1"/>
          </p:nvPr>
        </p:nvSpPr>
        <p:spPr>
          <a:xfrm>
            <a:off x="121269" y="1388393"/>
            <a:ext cx="8015594" cy="1601993"/>
          </a:xfrm>
        </p:spPr>
        <p:txBody>
          <a:bodyPr>
            <a:normAutofit/>
          </a:bodyPr>
          <a:lstStyle/>
          <a:p>
            <a:pPr marL="400050" lvl="1" indent="0">
              <a:buNone/>
            </a:pPr>
            <a:r>
              <a:rPr lang="en-US" sz="2400" b="1" dirty="0"/>
              <a:t>Goals of the project:</a:t>
            </a:r>
          </a:p>
          <a:p>
            <a:pPr marL="400050" lvl="1" indent="0">
              <a:buNone/>
            </a:pPr>
            <a:endParaRPr lang="en-US" sz="2400" b="1" dirty="0"/>
          </a:p>
          <a:p>
            <a:pPr marL="400050" lvl="1" indent="0">
              <a:buNone/>
            </a:pPr>
            <a:endParaRPr lang="en-US" dirty="0"/>
          </a:p>
        </p:txBody>
      </p:sp>
      <p:sp>
        <p:nvSpPr>
          <p:cNvPr id="12" name="Rectangle 11">
            <a:extLst>
              <a:ext uri="{FF2B5EF4-FFF2-40B4-BE49-F238E27FC236}">
                <a16:creationId xmlns:a16="http://schemas.microsoft.com/office/drawing/2014/main" id="{B1478271-8214-154A-11D1-9C276BFE3F44}"/>
              </a:ext>
            </a:extLst>
          </p:cNvPr>
          <p:cNvSpPr/>
          <p:nvPr/>
        </p:nvSpPr>
        <p:spPr>
          <a:xfrm>
            <a:off x="657039" y="2055109"/>
            <a:ext cx="2303138" cy="2463731"/>
          </a:xfrm>
          <a:prstGeom prst="rect">
            <a:avLst/>
          </a:prstGeom>
          <a:solidFill>
            <a:schemeClr val="bg1"/>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400" b="1" u="sng" dirty="0">
                <a:solidFill>
                  <a:schemeClr val="tx1"/>
                </a:solidFill>
              </a:rPr>
              <a:t>Estimate transmission parameters</a:t>
            </a:r>
            <a:r>
              <a:rPr lang="en-US" sz="1400" b="1" dirty="0">
                <a:solidFill>
                  <a:schemeClr val="tx1"/>
                </a:solidFill>
              </a:rPr>
              <a:t>:</a:t>
            </a:r>
          </a:p>
          <a:p>
            <a:endParaRPr lang="en-US" sz="1400" b="1" dirty="0">
              <a:solidFill>
                <a:schemeClr val="tx1"/>
              </a:solidFill>
            </a:endParaRPr>
          </a:p>
          <a:p>
            <a:pPr marL="285750" indent="-285750">
              <a:buFont typeface="Arial" panose="020B0604020202020204" pitchFamily="34" charset="0"/>
              <a:buChar char="•"/>
            </a:pPr>
            <a:r>
              <a:rPr lang="en-US" sz="1400" dirty="0" err="1">
                <a:solidFill>
                  <a:schemeClr val="tx1"/>
                </a:solidFill>
              </a:rPr>
              <a:t>qh</a:t>
            </a:r>
            <a:r>
              <a:rPr lang="en-US" sz="1400" dirty="0">
                <a:solidFill>
                  <a:schemeClr val="tx1"/>
                </a:solidFill>
              </a:rPr>
              <a:t>: household transmission probability escape</a:t>
            </a:r>
          </a:p>
          <a:p>
            <a:pPr marL="285750" indent="-285750">
              <a:buFont typeface="Arial" panose="020B0604020202020204" pitchFamily="34" charset="0"/>
              <a:buChar char="•"/>
            </a:pPr>
            <a:r>
              <a:rPr lang="en-US" sz="1400" dirty="0">
                <a:solidFill>
                  <a:schemeClr val="tx1"/>
                </a:solidFill>
              </a:rPr>
              <a:t>qc: community transmission probability escape</a:t>
            </a:r>
          </a:p>
        </p:txBody>
      </p:sp>
      <p:sp>
        <p:nvSpPr>
          <p:cNvPr id="13" name="Rectangle 12">
            <a:extLst>
              <a:ext uri="{FF2B5EF4-FFF2-40B4-BE49-F238E27FC236}">
                <a16:creationId xmlns:a16="http://schemas.microsoft.com/office/drawing/2014/main" id="{CA863E58-EB20-1DFF-22DB-2BAC0B8D0DBD}"/>
              </a:ext>
            </a:extLst>
          </p:cNvPr>
          <p:cNvSpPr/>
          <p:nvPr/>
        </p:nvSpPr>
        <p:spPr>
          <a:xfrm>
            <a:off x="3653378" y="2055109"/>
            <a:ext cx="2303138" cy="2463731"/>
          </a:xfrm>
          <a:prstGeom prst="rect">
            <a:avLst/>
          </a:prstGeom>
          <a:solidFill>
            <a:schemeClr val="bg1"/>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400" b="1" u="sng" dirty="0">
                <a:solidFill>
                  <a:schemeClr val="tx1"/>
                </a:solidFill>
              </a:rPr>
              <a:t>Compare two competing models</a:t>
            </a:r>
            <a:r>
              <a:rPr lang="en-US" sz="1400" b="1" dirty="0">
                <a:solidFill>
                  <a:schemeClr val="tx1"/>
                </a:solidFill>
              </a:rPr>
              <a:t>:</a:t>
            </a:r>
          </a:p>
          <a:p>
            <a:endParaRPr lang="en-US" sz="1400" b="1" dirty="0">
              <a:solidFill>
                <a:schemeClr val="tx1"/>
              </a:solidFill>
            </a:endParaRPr>
          </a:p>
          <a:p>
            <a:pPr marL="285750" indent="-285750">
              <a:buFont typeface="Arial" panose="020B0604020202020204" pitchFamily="34" charset="0"/>
              <a:buChar char="•"/>
            </a:pPr>
            <a:r>
              <a:rPr lang="en-US" sz="1400" dirty="0">
                <a:solidFill>
                  <a:schemeClr val="tx1"/>
                </a:solidFill>
              </a:rPr>
              <a:t>Model 1: both outbreaks share the same parameters</a:t>
            </a:r>
          </a:p>
          <a:p>
            <a:pPr marL="285750" indent="-285750">
              <a:buFont typeface="Arial" panose="020B0604020202020204" pitchFamily="34" charset="0"/>
              <a:buChar char="•"/>
            </a:pPr>
            <a:r>
              <a:rPr lang="en-US" sz="1400" dirty="0">
                <a:solidFill>
                  <a:schemeClr val="tx1"/>
                </a:solidFill>
              </a:rPr>
              <a:t>Model 2: each outbreak has separate parameters</a:t>
            </a:r>
          </a:p>
        </p:txBody>
      </p:sp>
      <p:sp>
        <p:nvSpPr>
          <p:cNvPr id="14" name="Rectangle 13">
            <a:extLst>
              <a:ext uri="{FF2B5EF4-FFF2-40B4-BE49-F238E27FC236}">
                <a16:creationId xmlns:a16="http://schemas.microsoft.com/office/drawing/2014/main" id="{F1D99CA3-8A8F-8C07-3FCF-3AC41BC539BE}"/>
              </a:ext>
            </a:extLst>
          </p:cNvPr>
          <p:cNvSpPr/>
          <p:nvPr/>
        </p:nvSpPr>
        <p:spPr>
          <a:xfrm>
            <a:off x="6649717" y="2055109"/>
            <a:ext cx="2303138" cy="2463731"/>
          </a:xfrm>
          <a:prstGeom prst="rect">
            <a:avLst/>
          </a:prstGeom>
          <a:solidFill>
            <a:schemeClr val="bg1"/>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400" b="1" u="sng" dirty="0">
                <a:solidFill>
                  <a:schemeClr val="tx1"/>
                </a:solidFill>
              </a:rPr>
              <a:t>Reproduce figures from the paper</a:t>
            </a:r>
          </a:p>
          <a:p>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Accepted ABC samples forms clusters</a:t>
            </a:r>
          </a:p>
          <a:p>
            <a:pPr marL="285750" indent="-285750">
              <a:buFont typeface="Arial" panose="020B0604020202020204" pitchFamily="34" charset="0"/>
              <a:buChar char="•"/>
            </a:pPr>
            <a:r>
              <a:rPr lang="en-US" sz="1400" dirty="0">
                <a:solidFill>
                  <a:schemeClr val="tx1"/>
                </a:solidFill>
              </a:rPr>
              <a:t>Tecumseh outbreaks should overlap</a:t>
            </a:r>
          </a:p>
          <a:p>
            <a:pPr marL="285750" indent="-285750">
              <a:buFont typeface="Arial" panose="020B0604020202020204" pitchFamily="34" charset="0"/>
              <a:buChar char="•"/>
            </a:pPr>
            <a:r>
              <a:rPr lang="en-US" sz="1400" dirty="0">
                <a:solidFill>
                  <a:schemeClr val="tx1"/>
                </a:solidFill>
              </a:rPr>
              <a:t>Seattle outbreaks should form two distinct clusters</a:t>
            </a:r>
          </a:p>
        </p:txBody>
      </p:sp>
      <p:sp>
        <p:nvSpPr>
          <p:cNvPr id="16" name="Chevron 15">
            <a:extLst>
              <a:ext uri="{FF2B5EF4-FFF2-40B4-BE49-F238E27FC236}">
                <a16:creationId xmlns:a16="http://schemas.microsoft.com/office/drawing/2014/main" id="{CFE40557-C1AA-963F-CDD3-33EEA32427F3}"/>
              </a:ext>
            </a:extLst>
          </p:cNvPr>
          <p:cNvSpPr/>
          <p:nvPr/>
        </p:nvSpPr>
        <p:spPr>
          <a:xfrm>
            <a:off x="3153905" y="2750949"/>
            <a:ext cx="342042" cy="774915"/>
          </a:xfrm>
          <a:prstGeom prst="chevron">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7" name="Chevron 16">
            <a:extLst>
              <a:ext uri="{FF2B5EF4-FFF2-40B4-BE49-F238E27FC236}">
                <a16:creationId xmlns:a16="http://schemas.microsoft.com/office/drawing/2014/main" id="{41408BFD-23B9-6F84-A9B5-37E67F6EAD35}"/>
              </a:ext>
            </a:extLst>
          </p:cNvPr>
          <p:cNvSpPr/>
          <p:nvPr/>
        </p:nvSpPr>
        <p:spPr>
          <a:xfrm>
            <a:off x="6148075" y="2632319"/>
            <a:ext cx="342042" cy="774915"/>
          </a:xfrm>
          <a:prstGeom prst="chevron">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36483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A4567-1554-DF1B-F677-1047F4291A6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4C1BB13-A90F-2FEF-9590-E941A549961C}"/>
              </a:ext>
            </a:extLst>
          </p:cNvPr>
          <p:cNvPicPr>
            <a:picLocks noChangeAspect="1"/>
          </p:cNvPicPr>
          <p:nvPr/>
        </p:nvPicPr>
        <p:blipFill>
          <a:blip r:embed="rId3"/>
          <a:stretch>
            <a:fillRect/>
          </a:stretch>
        </p:blipFill>
        <p:spPr>
          <a:xfrm>
            <a:off x="2492860" y="1313070"/>
            <a:ext cx="1697064" cy="501949"/>
          </a:xfrm>
          <a:prstGeom prst="rect">
            <a:avLst/>
          </a:prstGeom>
        </p:spPr>
      </p:pic>
      <p:sp>
        <p:nvSpPr>
          <p:cNvPr id="2" name="Title 1">
            <a:extLst>
              <a:ext uri="{FF2B5EF4-FFF2-40B4-BE49-F238E27FC236}">
                <a16:creationId xmlns:a16="http://schemas.microsoft.com/office/drawing/2014/main" id="{FDA74841-7F4C-7BA9-E136-5A9BCBBEF061}"/>
              </a:ext>
            </a:extLst>
          </p:cNvPr>
          <p:cNvSpPr>
            <a:spLocks noGrp="1"/>
          </p:cNvSpPr>
          <p:nvPr>
            <p:ph type="title"/>
          </p:nvPr>
        </p:nvSpPr>
        <p:spPr>
          <a:xfrm>
            <a:off x="494306" y="256383"/>
            <a:ext cx="6448934" cy="779318"/>
          </a:xfrm>
        </p:spPr>
        <p:txBody>
          <a:bodyPr/>
          <a:lstStyle/>
          <a:p>
            <a:r>
              <a:rPr lang="en-US" dirty="0"/>
              <a:t>ABC Logic and Algorithm</a:t>
            </a:r>
          </a:p>
        </p:txBody>
      </p:sp>
      <p:sp>
        <p:nvSpPr>
          <p:cNvPr id="9" name="Content Placeholder 3">
            <a:extLst>
              <a:ext uri="{FF2B5EF4-FFF2-40B4-BE49-F238E27FC236}">
                <a16:creationId xmlns:a16="http://schemas.microsoft.com/office/drawing/2014/main" id="{F3708296-C31F-31EE-4FE9-368317B9CC09}"/>
              </a:ext>
            </a:extLst>
          </p:cNvPr>
          <p:cNvSpPr>
            <a:spLocks noGrp="1"/>
          </p:cNvSpPr>
          <p:nvPr>
            <p:ph idx="1"/>
          </p:nvPr>
        </p:nvSpPr>
        <p:spPr>
          <a:xfrm>
            <a:off x="54244" y="1035701"/>
            <a:ext cx="9144000" cy="3755107"/>
          </a:xfrm>
        </p:spPr>
        <p:txBody>
          <a:bodyPr>
            <a:normAutofit/>
          </a:bodyPr>
          <a:lstStyle/>
          <a:p>
            <a:pPr marL="400050" lvl="1" indent="0">
              <a:buNone/>
            </a:pPr>
            <a:r>
              <a:rPr lang="en-US" sz="2000" dirty="0"/>
              <a:t>The likelihood of </a:t>
            </a:r>
            <a:r>
              <a:rPr lang="en-US" sz="2000" dirty="0" err="1"/>
              <a:t>Longini</a:t>
            </a:r>
            <a:r>
              <a:rPr lang="en-US" sz="2000" dirty="0"/>
              <a:t>-Koopman household model is intractable so we cannot compute:</a:t>
            </a:r>
          </a:p>
          <a:p>
            <a:pPr lvl="1" indent="-342900">
              <a:buAutoNum type="arabicPeriod"/>
            </a:pPr>
            <a:r>
              <a:rPr lang="en-US" sz="2000" dirty="0"/>
              <a:t>Draw parameters from prior</a:t>
            </a:r>
          </a:p>
          <a:p>
            <a:pPr lvl="1" indent="-342900">
              <a:buAutoNum type="arabicPeriod"/>
            </a:pPr>
            <a:r>
              <a:rPr lang="en-US" sz="2000" dirty="0"/>
              <a:t>Simulate outbreak data using:</a:t>
            </a:r>
          </a:p>
          <a:p>
            <a:pPr marL="1257300" lvl="3" indent="0">
              <a:buNone/>
            </a:pPr>
            <a:r>
              <a:rPr lang="en-US" sz="1600" dirty="0" err="1"/>
              <a:t>wjs_matrix</a:t>
            </a:r>
            <a:r>
              <a:rPr lang="en-US" sz="1600" dirty="0"/>
              <a:t>() and simulate counts()</a:t>
            </a:r>
          </a:p>
          <a:p>
            <a:pPr lvl="1" indent="-342900">
              <a:buAutoNum type="arabicPeriod"/>
            </a:pPr>
            <a:r>
              <a:rPr lang="en-US" sz="2000" dirty="0"/>
              <a:t>Compute distance measure</a:t>
            </a:r>
          </a:p>
          <a:p>
            <a:pPr lvl="1" indent="-342900">
              <a:buAutoNum type="arabicPeriod"/>
            </a:pPr>
            <a:r>
              <a:rPr lang="en-US" sz="2000" dirty="0"/>
              <a:t>Accept or Reject</a:t>
            </a:r>
          </a:p>
          <a:p>
            <a:pPr lvl="1" indent="-342900">
              <a:buAutoNum type="arabicPeriod"/>
            </a:pPr>
            <a:endParaRPr lang="en-US" sz="7200" dirty="0"/>
          </a:p>
          <a:p>
            <a:pPr marL="400050" lvl="1" indent="0">
              <a:buNone/>
            </a:pPr>
            <a:endParaRPr lang="en-US" dirty="0"/>
          </a:p>
          <a:p>
            <a:pPr marL="400050" lvl="1" indent="0">
              <a:buNone/>
            </a:pPr>
            <a:endParaRPr lang="en-US" dirty="0"/>
          </a:p>
          <a:p>
            <a:pPr marL="400050" lvl="1" indent="0">
              <a:buNone/>
            </a:pPr>
            <a:endParaRPr lang="en-US" sz="2400" b="1" dirty="0"/>
          </a:p>
          <a:p>
            <a:pPr marL="400050" lvl="1" indent="0">
              <a:buNone/>
            </a:pPr>
            <a:endParaRPr lang="en-US" dirty="0"/>
          </a:p>
        </p:txBody>
      </p:sp>
      <p:pic>
        <p:nvPicPr>
          <p:cNvPr id="5" name="Picture 4">
            <a:extLst>
              <a:ext uri="{FF2B5EF4-FFF2-40B4-BE49-F238E27FC236}">
                <a16:creationId xmlns:a16="http://schemas.microsoft.com/office/drawing/2014/main" id="{FFA19DA3-CC53-6A04-C72B-4B34122D274C}"/>
              </a:ext>
            </a:extLst>
          </p:cNvPr>
          <p:cNvPicPr>
            <a:picLocks noChangeAspect="1"/>
          </p:cNvPicPr>
          <p:nvPr/>
        </p:nvPicPr>
        <p:blipFill>
          <a:blip r:embed="rId4"/>
          <a:stretch>
            <a:fillRect/>
          </a:stretch>
        </p:blipFill>
        <p:spPr>
          <a:xfrm>
            <a:off x="4348351" y="1890996"/>
            <a:ext cx="2260600" cy="406400"/>
          </a:xfrm>
          <a:prstGeom prst="rect">
            <a:avLst/>
          </a:prstGeom>
        </p:spPr>
      </p:pic>
      <p:pic>
        <p:nvPicPr>
          <p:cNvPr id="6" name="Picture 5">
            <a:extLst>
              <a:ext uri="{FF2B5EF4-FFF2-40B4-BE49-F238E27FC236}">
                <a16:creationId xmlns:a16="http://schemas.microsoft.com/office/drawing/2014/main" id="{B78E1B2D-FAD7-B2B4-0B96-BDCEC2DEE6D4}"/>
              </a:ext>
            </a:extLst>
          </p:cNvPr>
          <p:cNvPicPr>
            <a:picLocks noChangeAspect="1"/>
          </p:cNvPicPr>
          <p:nvPr/>
        </p:nvPicPr>
        <p:blipFill>
          <a:blip r:embed="rId5"/>
          <a:stretch>
            <a:fillRect/>
          </a:stretch>
        </p:blipFill>
        <p:spPr>
          <a:xfrm>
            <a:off x="4183251" y="3318682"/>
            <a:ext cx="2425700" cy="660400"/>
          </a:xfrm>
          <a:prstGeom prst="rect">
            <a:avLst/>
          </a:prstGeom>
        </p:spPr>
      </p:pic>
      <p:pic>
        <p:nvPicPr>
          <p:cNvPr id="7" name="Picture 6">
            <a:extLst>
              <a:ext uri="{FF2B5EF4-FFF2-40B4-BE49-F238E27FC236}">
                <a16:creationId xmlns:a16="http://schemas.microsoft.com/office/drawing/2014/main" id="{0C670D39-40D9-92FA-747E-F296D770C5F7}"/>
              </a:ext>
            </a:extLst>
          </p:cNvPr>
          <p:cNvPicPr>
            <a:picLocks noChangeAspect="1"/>
          </p:cNvPicPr>
          <p:nvPr/>
        </p:nvPicPr>
        <p:blipFill>
          <a:blip r:embed="rId6"/>
          <a:srcRect t="42698"/>
          <a:stretch/>
        </p:blipFill>
        <p:spPr>
          <a:xfrm>
            <a:off x="3007963" y="4038055"/>
            <a:ext cx="1066800" cy="473027"/>
          </a:xfrm>
          <a:prstGeom prst="rect">
            <a:avLst/>
          </a:prstGeom>
        </p:spPr>
      </p:pic>
      <p:sp>
        <p:nvSpPr>
          <p:cNvPr id="8" name="Rectangle 7">
            <a:extLst>
              <a:ext uri="{FF2B5EF4-FFF2-40B4-BE49-F238E27FC236}">
                <a16:creationId xmlns:a16="http://schemas.microsoft.com/office/drawing/2014/main" id="{514B97A4-4579-AF70-80E7-FEC1E566B469}"/>
              </a:ext>
            </a:extLst>
          </p:cNvPr>
          <p:cNvSpPr/>
          <p:nvPr/>
        </p:nvSpPr>
        <p:spPr>
          <a:xfrm>
            <a:off x="4348350" y="1890996"/>
            <a:ext cx="2184185" cy="389659"/>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3AD0033-38B3-FAE8-64C6-25BC89EFAD4E}"/>
              </a:ext>
            </a:extLst>
          </p:cNvPr>
          <p:cNvSpPr/>
          <p:nvPr/>
        </p:nvSpPr>
        <p:spPr>
          <a:xfrm>
            <a:off x="4183251" y="3454052"/>
            <a:ext cx="2184185" cy="389659"/>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B83982-1D4D-3628-DFCB-16FF6EE5E63E}"/>
              </a:ext>
            </a:extLst>
          </p:cNvPr>
          <p:cNvSpPr/>
          <p:nvPr/>
        </p:nvSpPr>
        <p:spPr>
          <a:xfrm>
            <a:off x="3107409" y="3979081"/>
            <a:ext cx="790415" cy="389659"/>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4199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33EEC-E683-3CC1-8142-1A96B55A3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3ADD5-D2AC-93AE-09A4-19CE24597E49}"/>
              </a:ext>
            </a:extLst>
          </p:cNvPr>
          <p:cNvSpPr>
            <a:spLocks noGrp="1"/>
          </p:cNvSpPr>
          <p:nvPr>
            <p:ph type="title"/>
          </p:nvPr>
        </p:nvSpPr>
        <p:spPr>
          <a:xfrm>
            <a:off x="517554" y="286155"/>
            <a:ext cx="6348195" cy="779318"/>
          </a:xfrm>
        </p:spPr>
        <p:txBody>
          <a:bodyPr/>
          <a:lstStyle/>
          <a:p>
            <a:r>
              <a:rPr lang="en-US" dirty="0"/>
              <a:t>Code Design &amp; Key Functions</a:t>
            </a:r>
          </a:p>
        </p:txBody>
      </p:sp>
      <p:pic>
        <p:nvPicPr>
          <p:cNvPr id="3" name="Picture 2">
            <a:extLst>
              <a:ext uri="{FF2B5EF4-FFF2-40B4-BE49-F238E27FC236}">
                <a16:creationId xmlns:a16="http://schemas.microsoft.com/office/drawing/2014/main" id="{64891357-4F4D-22F0-891A-F7ACAD85155A}"/>
              </a:ext>
            </a:extLst>
          </p:cNvPr>
          <p:cNvPicPr>
            <a:picLocks noChangeAspect="1"/>
          </p:cNvPicPr>
          <p:nvPr/>
        </p:nvPicPr>
        <p:blipFill>
          <a:blip r:embed="rId3"/>
          <a:stretch>
            <a:fillRect/>
          </a:stretch>
        </p:blipFill>
        <p:spPr>
          <a:xfrm>
            <a:off x="119646" y="1517765"/>
            <a:ext cx="2801785" cy="3063123"/>
          </a:xfrm>
          <a:prstGeom prst="rect">
            <a:avLst/>
          </a:prstGeom>
        </p:spPr>
      </p:pic>
      <p:pic>
        <p:nvPicPr>
          <p:cNvPr id="4" name="Picture 3">
            <a:extLst>
              <a:ext uri="{FF2B5EF4-FFF2-40B4-BE49-F238E27FC236}">
                <a16:creationId xmlns:a16="http://schemas.microsoft.com/office/drawing/2014/main" id="{AD81F2EE-2A37-A23E-1353-6293931DD35E}"/>
              </a:ext>
            </a:extLst>
          </p:cNvPr>
          <p:cNvPicPr>
            <a:picLocks noChangeAspect="1"/>
          </p:cNvPicPr>
          <p:nvPr/>
        </p:nvPicPr>
        <p:blipFill>
          <a:blip r:embed="rId4"/>
          <a:srcRect l="1338"/>
          <a:stretch/>
        </p:blipFill>
        <p:spPr>
          <a:xfrm>
            <a:off x="2891365" y="1517765"/>
            <a:ext cx="3110112" cy="1852048"/>
          </a:xfrm>
          <a:prstGeom prst="rect">
            <a:avLst/>
          </a:prstGeom>
        </p:spPr>
      </p:pic>
      <p:pic>
        <p:nvPicPr>
          <p:cNvPr id="5" name="Picture 4">
            <a:extLst>
              <a:ext uri="{FF2B5EF4-FFF2-40B4-BE49-F238E27FC236}">
                <a16:creationId xmlns:a16="http://schemas.microsoft.com/office/drawing/2014/main" id="{B5362D5F-8D66-0DE1-54EE-232768E427BB}"/>
              </a:ext>
            </a:extLst>
          </p:cNvPr>
          <p:cNvPicPr>
            <a:picLocks noChangeAspect="1"/>
          </p:cNvPicPr>
          <p:nvPr/>
        </p:nvPicPr>
        <p:blipFill>
          <a:blip r:embed="rId5"/>
          <a:srcRect l="1205"/>
          <a:stretch/>
        </p:blipFill>
        <p:spPr>
          <a:xfrm>
            <a:off x="6252635" y="1517765"/>
            <a:ext cx="2771718" cy="1247614"/>
          </a:xfrm>
          <a:prstGeom prst="rect">
            <a:avLst/>
          </a:prstGeom>
        </p:spPr>
      </p:pic>
      <p:sp>
        <p:nvSpPr>
          <p:cNvPr id="8" name="Rectangle 7">
            <a:extLst>
              <a:ext uri="{FF2B5EF4-FFF2-40B4-BE49-F238E27FC236}">
                <a16:creationId xmlns:a16="http://schemas.microsoft.com/office/drawing/2014/main" id="{0A6E7F0A-F071-C1E0-A854-A68B7C852A10}"/>
              </a:ext>
            </a:extLst>
          </p:cNvPr>
          <p:cNvSpPr/>
          <p:nvPr/>
        </p:nvSpPr>
        <p:spPr>
          <a:xfrm>
            <a:off x="119647" y="1517765"/>
            <a:ext cx="484788" cy="1715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sp>
        <p:nvSpPr>
          <p:cNvPr id="9" name="Rectangle 8">
            <a:extLst>
              <a:ext uri="{FF2B5EF4-FFF2-40B4-BE49-F238E27FC236}">
                <a16:creationId xmlns:a16="http://schemas.microsoft.com/office/drawing/2014/main" id="{22E0C2D9-8C47-4481-16B8-3A1D016BA002}"/>
              </a:ext>
            </a:extLst>
          </p:cNvPr>
          <p:cNvSpPr/>
          <p:nvPr/>
        </p:nvSpPr>
        <p:spPr>
          <a:xfrm>
            <a:off x="2891365" y="1542082"/>
            <a:ext cx="712922" cy="14723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sp>
        <p:nvSpPr>
          <p:cNvPr id="10" name="Rectangle 9">
            <a:extLst>
              <a:ext uri="{FF2B5EF4-FFF2-40B4-BE49-F238E27FC236}">
                <a16:creationId xmlns:a16="http://schemas.microsoft.com/office/drawing/2014/main" id="{A7AFA902-13EA-ED3D-B482-3387D876A84E}"/>
              </a:ext>
            </a:extLst>
          </p:cNvPr>
          <p:cNvSpPr/>
          <p:nvPr/>
        </p:nvSpPr>
        <p:spPr>
          <a:xfrm>
            <a:off x="6183824" y="1517765"/>
            <a:ext cx="1131376" cy="1715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pic>
        <p:nvPicPr>
          <p:cNvPr id="11" name="Picture 10">
            <a:extLst>
              <a:ext uri="{FF2B5EF4-FFF2-40B4-BE49-F238E27FC236}">
                <a16:creationId xmlns:a16="http://schemas.microsoft.com/office/drawing/2014/main" id="{FC725D61-7947-AD97-D5D5-4AC5AD1A84AB}"/>
              </a:ext>
            </a:extLst>
          </p:cNvPr>
          <p:cNvPicPr>
            <a:picLocks noChangeAspect="1"/>
          </p:cNvPicPr>
          <p:nvPr/>
        </p:nvPicPr>
        <p:blipFill>
          <a:blip r:embed="rId6"/>
          <a:srcRect l="1710" t="2097"/>
          <a:stretch/>
        </p:blipFill>
        <p:spPr>
          <a:xfrm>
            <a:off x="6222571" y="2892371"/>
            <a:ext cx="2461508" cy="1964974"/>
          </a:xfrm>
          <a:prstGeom prst="rect">
            <a:avLst/>
          </a:prstGeom>
        </p:spPr>
      </p:pic>
      <p:sp>
        <p:nvSpPr>
          <p:cNvPr id="12" name="Rectangle 11">
            <a:extLst>
              <a:ext uri="{FF2B5EF4-FFF2-40B4-BE49-F238E27FC236}">
                <a16:creationId xmlns:a16="http://schemas.microsoft.com/office/drawing/2014/main" id="{646C69FB-746B-7000-2064-36AB130AB0D3}"/>
              </a:ext>
            </a:extLst>
          </p:cNvPr>
          <p:cNvSpPr/>
          <p:nvPr/>
        </p:nvSpPr>
        <p:spPr>
          <a:xfrm>
            <a:off x="6210729" y="2892370"/>
            <a:ext cx="918203" cy="17154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sp>
        <p:nvSpPr>
          <p:cNvPr id="13" name="Content Placeholder 3">
            <a:extLst>
              <a:ext uri="{FF2B5EF4-FFF2-40B4-BE49-F238E27FC236}">
                <a16:creationId xmlns:a16="http://schemas.microsoft.com/office/drawing/2014/main" id="{8AE571BC-BC52-7491-0B30-E1114CD9B7FD}"/>
              </a:ext>
            </a:extLst>
          </p:cNvPr>
          <p:cNvSpPr txBox="1">
            <a:spLocks/>
          </p:cNvSpPr>
          <p:nvPr/>
        </p:nvSpPr>
        <p:spPr>
          <a:xfrm>
            <a:off x="2741715" y="3465977"/>
            <a:ext cx="8015594" cy="1601993"/>
          </a:xfrm>
          <a:prstGeom prst="rect">
            <a:avLst/>
          </a:prstGeom>
        </p:spPr>
        <p:txBody>
          <a:bodyPr vert="horz" lIns="91440" tIns="45720" rIns="91440" bIns="45720" rtlCol="0">
            <a:normAutofit/>
          </a:bodyPr>
          <a:lstStyle>
            <a:lvl1pPr marL="342900" marR="0" indent="-342900" algn="l" defTabSz="457200" rtl="0" eaLnBrk="1" fontAlgn="auto" latinLnBrk="0" hangingPunct="1">
              <a:lnSpc>
                <a:spcPct val="100000"/>
              </a:lnSpc>
              <a:spcBef>
                <a:spcPts val="0"/>
              </a:spcBef>
              <a:spcAft>
                <a:spcPts val="1800"/>
              </a:spcAft>
              <a:buClr>
                <a:schemeClr val="tx1">
                  <a:lumMod val="50000"/>
                  <a:lumOff val="50000"/>
                </a:schemeClr>
              </a:buClr>
              <a:buSzPct val="100000"/>
              <a:buFont typeface="+mj-lt"/>
              <a:buAutoNum type="arabicPeriod"/>
              <a:tabLst/>
              <a:defRPr sz="1800" kern="1200">
                <a:solidFill>
                  <a:srgbClr val="40404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685800" lvl="1">
              <a:lnSpc>
                <a:spcPct val="110000"/>
              </a:lnSpc>
              <a:spcAft>
                <a:spcPts val="0"/>
              </a:spcAft>
              <a:buFont typeface="Arial" panose="020B0604020202020204" pitchFamily="34" charset="0"/>
              <a:buChar char="•"/>
            </a:pPr>
            <a:r>
              <a:rPr lang="en-US" sz="1400" b="1" dirty="0"/>
              <a:t>Draws Parameters</a:t>
            </a:r>
            <a:endParaRPr lang="en-US" sz="1400" dirty="0"/>
          </a:p>
          <a:p>
            <a:pPr marL="685800" lvl="1">
              <a:lnSpc>
                <a:spcPct val="110000"/>
              </a:lnSpc>
              <a:spcAft>
                <a:spcPts val="0"/>
              </a:spcAft>
              <a:buFont typeface="Arial" panose="020B0604020202020204" pitchFamily="34" charset="0"/>
              <a:buChar char="•"/>
            </a:pPr>
            <a:r>
              <a:rPr lang="en-US" sz="1400" b="1" dirty="0"/>
              <a:t>Simulates outbreaks</a:t>
            </a:r>
          </a:p>
          <a:p>
            <a:pPr marL="685800" lvl="1">
              <a:lnSpc>
                <a:spcPct val="110000"/>
              </a:lnSpc>
              <a:spcAft>
                <a:spcPts val="0"/>
              </a:spcAft>
              <a:buFont typeface="Arial" panose="020B0604020202020204" pitchFamily="34" charset="0"/>
              <a:buChar char="•"/>
            </a:pPr>
            <a:r>
              <a:rPr lang="en-US" sz="1400" b="1" dirty="0"/>
              <a:t>Calculates distances</a:t>
            </a:r>
          </a:p>
          <a:p>
            <a:pPr marL="685800" lvl="1">
              <a:lnSpc>
                <a:spcPct val="110000"/>
              </a:lnSpc>
              <a:spcAft>
                <a:spcPts val="0"/>
              </a:spcAft>
              <a:buFont typeface="Arial" panose="020B0604020202020204" pitchFamily="34" charset="0"/>
              <a:buChar char="•"/>
            </a:pPr>
            <a:r>
              <a:rPr lang="en-US" sz="1400" b="1" dirty="0"/>
              <a:t>Returns accepted samples</a:t>
            </a:r>
            <a:endParaRPr lang="en-US" sz="1400" dirty="0"/>
          </a:p>
        </p:txBody>
      </p:sp>
      <p:sp>
        <p:nvSpPr>
          <p:cNvPr id="14" name="Rectangle 13">
            <a:extLst>
              <a:ext uri="{FF2B5EF4-FFF2-40B4-BE49-F238E27FC236}">
                <a16:creationId xmlns:a16="http://schemas.microsoft.com/office/drawing/2014/main" id="{688FB6EB-29C9-6AE4-A562-2316A79F3C23}"/>
              </a:ext>
            </a:extLst>
          </p:cNvPr>
          <p:cNvSpPr/>
          <p:nvPr/>
        </p:nvSpPr>
        <p:spPr>
          <a:xfrm>
            <a:off x="3104839" y="3332120"/>
            <a:ext cx="2896638" cy="124876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cxnSp>
        <p:nvCxnSpPr>
          <p:cNvPr id="16" name="Elbow Connector 15">
            <a:extLst>
              <a:ext uri="{FF2B5EF4-FFF2-40B4-BE49-F238E27FC236}">
                <a16:creationId xmlns:a16="http://schemas.microsoft.com/office/drawing/2014/main" id="{2491E5D2-19FC-7A56-8711-990CA5244F48}"/>
              </a:ext>
            </a:extLst>
          </p:cNvPr>
          <p:cNvCxnSpPr>
            <a:stCxn id="14" idx="3"/>
            <a:endCxn id="12" idx="1"/>
          </p:cNvCxnSpPr>
          <p:nvPr/>
        </p:nvCxnSpPr>
        <p:spPr>
          <a:xfrm flipV="1">
            <a:off x="6001477" y="2978145"/>
            <a:ext cx="209252" cy="978359"/>
          </a:xfrm>
          <a:prstGeom prst="bentConnector3">
            <a:avLst/>
          </a:prstGeom>
          <a:ln>
            <a:solidFill>
              <a:srgbClr val="FF000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068036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2A21D-2027-174C-F832-6E8B33488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D0416-205F-4FD5-54B5-B3FA8CC6F9E6}"/>
              </a:ext>
            </a:extLst>
          </p:cNvPr>
          <p:cNvSpPr>
            <a:spLocks noGrp="1"/>
          </p:cNvSpPr>
          <p:nvPr>
            <p:ph type="title"/>
          </p:nvPr>
        </p:nvSpPr>
        <p:spPr>
          <a:xfrm>
            <a:off x="517554" y="286155"/>
            <a:ext cx="6348195" cy="779318"/>
          </a:xfrm>
        </p:spPr>
        <p:txBody>
          <a:bodyPr/>
          <a:lstStyle/>
          <a:p>
            <a:r>
              <a:rPr lang="en-US" dirty="0"/>
              <a:t>Conclusions </a:t>
            </a:r>
          </a:p>
        </p:txBody>
      </p:sp>
      <p:pic>
        <p:nvPicPr>
          <p:cNvPr id="21" name="Picture 20" descr="A screenshot of a graph&#10;&#10;Description automatically generated">
            <a:extLst>
              <a:ext uri="{FF2B5EF4-FFF2-40B4-BE49-F238E27FC236}">
                <a16:creationId xmlns:a16="http://schemas.microsoft.com/office/drawing/2014/main" id="{8B240D78-379C-6278-89D0-AE442FE30670}"/>
              </a:ext>
            </a:extLst>
          </p:cNvPr>
          <p:cNvPicPr>
            <a:picLocks noChangeAspect="1"/>
          </p:cNvPicPr>
          <p:nvPr/>
        </p:nvPicPr>
        <p:blipFill>
          <a:blip r:embed="rId3"/>
          <a:stretch>
            <a:fillRect/>
          </a:stretch>
        </p:blipFill>
        <p:spPr>
          <a:xfrm>
            <a:off x="39237" y="1065473"/>
            <a:ext cx="7772400" cy="3717501"/>
          </a:xfrm>
          <a:prstGeom prst="rect">
            <a:avLst/>
          </a:prstGeom>
        </p:spPr>
      </p:pic>
      <p:pic>
        <p:nvPicPr>
          <p:cNvPr id="22" name="Picture 21">
            <a:extLst>
              <a:ext uri="{FF2B5EF4-FFF2-40B4-BE49-F238E27FC236}">
                <a16:creationId xmlns:a16="http://schemas.microsoft.com/office/drawing/2014/main" id="{6D3F4F2D-EE36-13D9-B654-2B6EEA12E529}"/>
              </a:ext>
            </a:extLst>
          </p:cNvPr>
          <p:cNvPicPr>
            <a:picLocks noChangeAspect="1"/>
          </p:cNvPicPr>
          <p:nvPr/>
        </p:nvPicPr>
        <p:blipFill>
          <a:blip r:embed="rId4"/>
          <a:stretch>
            <a:fillRect/>
          </a:stretch>
        </p:blipFill>
        <p:spPr>
          <a:xfrm>
            <a:off x="7625193" y="360526"/>
            <a:ext cx="1329522" cy="2691246"/>
          </a:xfrm>
          <a:prstGeom prst="rect">
            <a:avLst/>
          </a:prstGeom>
        </p:spPr>
      </p:pic>
      <p:sp>
        <p:nvSpPr>
          <p:cNvPr id="23" name="Rectangle 22">
            <a:extLst>
              <a:ext uri="{FF2B5EF4-FFF2-40B4-BE49-F238E27FC236}">
                <a16:creationId xmlns:a16="http://schemas.microsoft.com/office/drawing/2014/main" id="{9C953B16-B67B-25B9-BF56-4E1D1CF87857}"/>
              </a:ext>
            </a:extLst>
          </p:cNvPr>
          <p:cNvSpPr/>
          <p:nvPr/>
        </p:nvSpPr>
        <p:spPr>
          <a:xfrm>
            <a:off x="7625192" y="203373"/>
            <a:ext cx="1404507" cy="301780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sp>
        <p:nvSpPr>
          <p:cNvPr id="24" name="Rectangle 23">
            <a:extLst>
              <a:ext uri="{FF2B5EF4-FFF2-40B4-BE49-F238E27FC236}">
                <a16:creationId xmlns:a16="http://schemas.microsoft.com/office/drawing/2014/main" id="{0596E066-25A8-5ADB-00A3-FD5260343E47}"/>
              </a:ext>
            </a:extLst>
          </p:cNvPr>
          <p:cNvSpPr/>
          <p:nvPr/>
        </p:nvSpPr>
        <p:spPr>
          <a:xfrm>
            <a:off x="1935915" y="1706148"/>
            <a:ext cx="1698536" cy="70138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sp>
        <p:nvSpPr>
          <p:cNvPr id="25" name="TextBox 24">
            <a:extLst>
              <a:ext uri="{FF2B5EF4-FFF2-40B4-BE49-F238E27FC236}">
                <a16:creationId xmlns:a16="http://schemas.microsoft.com/office/drawing/2014/main" id="{4B7DE1C4-72CA-B2E7-350D-E92331B8CEAC}"/>
              </a:ext>
            </a:extLst>
          </p:cNvPr>
          <p:cNvSpPr txBox="1"/>
          <p:nvPr/>
        </p:nvSpPr>
        <p:spPr>
          <a:xfrm>
            <a:off x="2465408" y="2176701"/>
            <a:ext cx="1018227" cy="230832"/>
          </a:xfrm>
          <a:prstGeom prst="rect">
            <a:avLst/>
          </a:prstGeom>
          <a:noFill/>
        </p:spPr>
        <p:txBody>
          <a:bodyPr wrap="none" rtlCol="0">
            <a:spAutoFit/>
          </a:bodyPr>
          <a:lstStyle/>
          <a:p>
            <a:r>
              <a:rPr lang="en-US" sz="900" dirty="0"/>
              <a:t>Posterior cluster</a:t>
            </a:r>
          </a:p>
        </p:txBody>
      </p:sp>
    </p:spTree>
    <p:extLst>
      <p:ext uri="{BB962C8B-B14F-4D97-AF65-F5344CB8AC3E}">
        <p14:creationId xmlns:p14="http://schemas.microsoft.com/office/powerpoint/2010/main" val="2051198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011F-3A4F-13F5-0233-3C04B31F0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ED948-54D2-897D-55EC-21F4A54E432E}"/>
              </a:ext>
            </a:extLst>
          </p:cNvPr>
          <p:cNvSpPr>
            <a:spLocks noGrp="1"/>
          </p:cNvSpPr>
          <p:nvPr>
            <p:ph type="title"/>
          </p:nvPr>
        </p:nvSpPr>
        <p:spPr>
          <a:xfrm>
            <a:off x="517554" y="286155"/>
            <a:ext cx="6348195" cy="779318"/>
          </a:xfrm>
        </p:spPr>
        <p:txBody>
          <a:bodyPr/>
          <a:lstStyle/>
          <a:p>
            <a:r>
              <a:rPr lang="en-US" dirty="0"/>
              <a:t>Conclusions </a:t>
            </a:r>
          </a:p>
        </p:txBody>
      </p:sp>
      <p:sp>
        <p:nvSpPr>
          <p:cNvPr id="3" name="Content Placeholder 3">
            <a:extLst>
              <a:ext uri="{FF2B5EF4-FFF2-40B4-BE49-F238E27FC236}">
                <a16:creationId xmlns:a16="http://schemas.microsoft.com/office/drawing/2014/main" id="{1E1F9E7E-38AF-D3BE-4880-6CD86C91178F}"/>
              </a:ext>
            </a:extLst>
          </p:cNvPr>
          <p:cNvSpPr>
            <a:spLocks noGrp="1"/>
          </p:cNvSpPr>
          <p:nvPr>
            <p:ph idx="1"/>
          </p:nvPr>
        </p:nvSpPr>
        <p:spPr>
          <a:xfrm>
            <a:off x="524225" y="1458135"/>
            <a:ext cx="8526642" cy="1601993"/>
          </a:xfrm>
        </p:spPr>
        <p:txBody>
          <a:bodyPr>
            <a:noAutofit/>
          </a:bodyPr>
          <a:lstStyle/>
          <a:p>
            <a:pPr marL="685800" lvl="1"/>
            <a:r>
              <a:rPr lang="en-US" sz="2400" dirty="0"/>
              <a:t>ABC infers transmission parameters for influenza outbreaks</a:t>
            </a:r>
          </a:p>
          <a:p>
            <a:pPr marL="685800" lvl="1"/>
            <a:r>
              <a:rPr lang="en-US" sz="2400" dirty="0"/>
              <a:t>Code reproduces the qualitative patterns as in the paper</a:t>
            </a:r>
          </a:p>
          <a:p>
            <a:pPr marL="685800" lvl="1"/>
            <a:r>
              <a:rPr lang="en-US" sz="2400" dirty="0"/>
              <a:t>Tecumseh outbreaks </a:t>
            </a:r>
            <a:r>
              <a:rPr lang="en-US" sz="2400" dirty="0">
                <a:sym typeface="Wingdings" pitchFamily="2" charset="2"/>
              </a:rPr>
              <a:t> Similar behavior</a:t>
            </a:r>
          </a:p>
          <a:p>
            <a:pPr marL="685800" lvl="1"/>
            <a:r>
              <a:rPr lang="en-US" sz="2400" dirty="0">
                <a:sym typeface="Wingdings" pitchFamily="2" charset="2"/>
              </a:rPr>
              <a:t>Seattle outbreaks  Distinct behavior</a:t>
            </a:r>
            <a:endParaRPr lang="en-US" sz="2400" dirty="0"/>
          </a:p>
        </p:txBody>
      </p:sp>
    </p:spTree>
    <p:extLst>
      <p:ext uri="{BB962C8B-B14F-4D97-AF65-F5344CB8AC3E}">
        <p14:creationId xmlns:p14="http://schemas.microsoft.com/office/powerpoint/2010/main" val="609578119"/>
      </p:ext>
    </p:extLst>
  </p:cSld>
  <p:clrMapOvr>
    <a:masterClrMapping/>
  </p:clrMapOvr>
</p:sld>
</file>

<file path=ppt/theme/theme1.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D4112C74-A76E-A244-A38B-7B589F31A3A0}" vid="{02DB7040-99DC-AA41-AC99-CF992BB610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2.xml><?xml version="1.0" encoding="utf-8"?>
<ds:datastoreItem xmlns:ds="http://schemas.openxmlformats.org/officeDocument/2006/customXml" ds:itemID="{7B6F2769-7194-4217-93D3-3AF3A4742282}">
  <ds:schemaRefs>
    <ds:schemaRef ds:uri="http://schemas.microsoft.com/office/2006/metadata/properties"/>
    <ds:schemaRef ds:uri="http://schemas.microsoft.com/office/infopath/2007/PartnerControls"/>
    <ds:schemaRef ds:uri="http://schemas.microsoft.com/sharepoint/v3/fields"/>
  </ds:schemaRefs>
</ds:datastoreItem>
</file>

<file path=customXml/itemProps3.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Main</Template>
  <TotalTime>1025</TotalTime>
  <Words>635</Words>
  <Application>Microsoft Macintosh PowerPoint</Application>
  <PresentationFormat>On-screen Show (16:9)</PresentationFormat>
  <Paragraphs>83</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Wingdings</vt:lpstr>
      <vt:lpstr>Main</vt:lpstr>
      <vt:lpstr>Approximate Bayesian Computation for Household Influenza Outbreaks</vt:lpstr>
      <vt:lpstr>Real-World Question: </vt:lpstr>
      <vt:lpstr>Project Overview &amp; Objectives</vt:lpstr>
      <vt:lpstr>ABC Logic and Algorithm</vt:lpstr>
      <vt:lpstr>Code Design &amp; Key Functions</vt:lpstr>
      <vt:lpstr>Conclusions </vt:lpstr>
      <vt:lpstr>Conclusions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Kim, Rubiga</dc:creator>
  <cp:lastModifiedBy>Kim, Rubiga</cp:lastModifiedBy>
  <cp:revision>2</cp:revision>
  <cp:lastPrinted>2014-06-24T16:10:50Z</cp:lastPrinted>
  <dcterms:created xsi:type="dcterms:W3CDTF">2025-12-11T04:23:43Z</dcterms:created>
  <dcterms:modified xsi:type="dcterms:W3CDTF">2025-12-11T21:29:36Z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